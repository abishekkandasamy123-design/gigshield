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slideMasters/slideMaster10.xml" ContentType="application/vnd.openxmlformats-officedocument.presentationml.slideMaster+xml"/>
  <ns0:Override PartName="/ppt/slides/slide10.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webextensions/taskpanes.xml" ContentType="application/vnd.ms-office.webextensiontaskpanes+xml"/>
  <ns0:Override PartName="/ppt/webextensions/webextension1.xml" ContentType="application/vnd.ms-office.webextension+xml"/>
</ns0:Types>
</file>

<file path=_rels/.rels><?xml version='1.0' encoding='UTF-8'?>
<ns0:Relationships xmlns:ns0="http://schemas.openxmlformats.org/package/2006/relationships">
		<ns0:Relationship Id="rId1" Type="http://schemas.openxmlformats.org/officeDocument/2006/relationships/extended-properties" Target="docProps/app.xml" />
		<ns0:Relationship Id="rId2" Type="http://schemas.openxmlformats.org/package/2006/relationships/metadata/core-properties" Target="docProps/core.xml" />
		<ns0:Relationship Id="rId3" Type="http://schemas.openxmlformats.org/officeDocument/2006/relationships/officeDocument" Target="ppt/presentation.xml" />
		<ns0:Relationship Id="rId4" Type="http://schemas.microsoft.com/office/2011/relationships/webextensiontaskpanes" Target="ppt/webextensions/taskpanes.xml" /></ns0: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31920" y="822960"/>
            <a:ext cx="731520" cy="731520"/>
          </a:xfrm>
          <a:prstGeom prst="rect">
            <a:avLst/>
          </a:prstGeom>
        </p:spPr>
      </p:pic>
      <p:sp>
        <p:nvSpPr>
          <p:cNvPr id="4" name="Text 1"/>
          <p:cNvSpPr/>
          <p:nvPr/>
        </p:nvSpPr>
        <p:spPr>
          <a:xfrm>
            <a:off x="914400" y="1645920"/>
            <a:ext cx="7315200" cy="822960"/>
          </a:xfrm>
          <a:prstGeom prst="rect">
            <a:avLst/>
          </a:prstGeom>
          <a:noFill/>
          <a:ln/>
        </p:spPr>
        <p:txBody>
          <a:bodyPr wrap="square" rtlCol="0" anchor="ctr"/>
          <a:lstStyle/>
          <a:p>
            <a:pPr algn="ctr" indent="0" marL="0">
              <a:buNone/>
            </a:pPr>
            <a:r>
              <a:rPr lang="en-US" sz="4400" b="1" dirty="0">
                <a:solidFill>
                  <a:srgbClr val="0F172A"/>
                </a:solidFill>
                <a:latin typeface="Calibri" pitchFamily="34" charset="0"/>
                <a:ea typeface="Calibri" pitchFamily="34" charset="-122"/>
                <a:cs typeface="Calibri" pitchFamily="34" charset="-120"/>
              </a:rPr>
              <a:t>GigShield</a:t>
            </a:r>
            <a:endParaRPr lang="en-US" sz="4400" dirty="0"/>
          </a:p>
        </p:txBody>
      </p:sp>
      <p:sp>
        <p:nvSpPr>
          <p:cNvPr id="5" name="Text 2"/>
          <p:cNvSpPr/>
          <p:nvPr/>
        </p:nvSpPr>
        <p:spPr>
          <a:xfrm>
            <a:off x="914400" y="2423160"/>
            <a:ext cx="7315200" cy="457200"/>
          </a:xfrm>
          <a:prstGeom prst="rect">
            <a:avLst/>
          </a:prstGeom>
          <a:noFill/>
          <a:ln/>
        </p:spPr>
        <p:txBody>
          <a:bodyPr wrap="square" rtlCol="0" anchor="ctr"/>
          <a:lstStyle/>
          <a:p>
            <a:pPr algn="ctr" indent="0" marL="0">
              <a:buNone/>
            </a:pPr>
            <a:r>
              <a:rPr lang="en-US" sz="1800" dirty="0">
                <a:solidFill>
                  <a:srgbClr val="64748B"/>
                </a:solidFill>
                <a:latin typeface="Calibri" pitchFamily="34" charset="0"/>
                <a:ea typeface="Calibri" pitchFamily="34" charset="-122"/>
                <a:cs typeface="Calibri" pitchFamily="34" charset="-120"/>
              </a:rPr>
              <a:t>Financial Resilience for Gig &amp; Informal Workers</a:t>
            </a:r>
            <a:endParaRPr lang="en-US" sz="1800" dirty="0"/>
          </a:p>
        </p:txBody>
      </p:sp>
      <p:sp>
        <p:nvSpPr>
          <p:cNvPr id="6" name="Shape 3"/>
          <p:cNvSpPr/>
          <p:nvPr/>
        </p:nvSpPr>
        <p:spPr>
          <a:xfrm>
            <a:off x="3200400" y="3063240"/>
            <a:ext cx="2743200" cy="27432"/>
          </a:xfrm>
          <a:prstGeom prst="rect">
            <a:avLst/>
          </a:prstGeom>
          <a:solidFill>
            <a:srgbClr val="10B981"/>
          </a:solidFill>
          <a:ln/>
        </p:spPr>
      </p:sp>
      <p:sp>
        <p:nvSpPr>
          <p:cNvPr id="7" name="Text 4"/>
          <p:cNvSpPr/>
          <p:nvPr/>
        </p:nvSpPr>
        <p:spPr>
          <a:xfrm>
            <a:off x="1371600" y="3246120"/>
            <a:ext cx="6400800" cy="365760"/>
          </a:xfrm>
          <a:prstGeom prst="rect">
            <a:avLst/>
          </a:prstGeom>
          <a:noFill/>
          <a:ln/>
        </p:spPr>
        <p:txBody>
          <a:bodyPr wrap="square"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Your income is irregular. Your financial safety shouldn't be.</a:t>
            </a:r>
            <a:endParaRPr lang="en-US" sz="1300" dirty="0"/>
          </a:p>
        </p:txBody>
      </p:sp>
      <p:sp>
        <p:nvSpPr>
          <p:cNvPr id="8" name="Text 5"/>
          <p:cNvSpPr/>
          <p:nvPr/>
        </p:nvSpPr>
        <p:spPr>
          <a:xfrm>
            <a:off x="914400" y="4206240"/>
            <a:ext cx="731520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VIT Chennai 24-Hour Hackathon  |  TechnoVIT 2026  |  September 2026</a:t>
            </a:r>
            <a:endParaRPr lang="en-US" sz="1000" dirty="0"/>
          </a:p>
        </p:txBody>
      </p:sp>
      <p:sp>
        <p:nvSpPr>
          <p:cNvPr id="9" name="Shape 6"/>
          <p:cNvSpPr/>
          <p:nvPr/>
        </p:nvSpPr>
        <p:spPr>
          <a:xfrm>
            <a:off x="0" y="4892040"/>
            <a:ext cx="9144000" cy="9144"/>
          </a:xfrm>
          <a:prstGeom prst="rect">
            <a:avLst/>
          </a:prstGeom>
          <a:solidFill>
            <a:srgbClr val="E2E8F0"/>
          </a:solidFill>
          <a:ln/>
        </p:spPr>
      </p:sp>
      <p:sp>
        <p:nvSpPr>
          <p:cNvPr id="10" name="Text 7"/>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11" name="Text 8"/>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 /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4444"/>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THE PROBLEM</a:t>
            </a:r>
            <a:endParaRPr lang="en-US" sz="2800" dirty="0"/>
          </a:p>
        </p:txBody>
      </p:sp>
      <p:sp>
        <p:nvSpPr>
          <p:cNvPr id="4" name="Text 2"/>
          <p:cNvSpPr/>
          <p:nvPr/>
        </p:nvSpPr>
        <p:spPr>
          <a:xfrm>
            <a:off x="548640" y="777240"/>
            <a:ext cx="8229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300 Million+ Workers Left Behind by Traditional Banking</a:t>
            </a:r>
            <a:endParaRPr lang="en-US" sz="1200" dirty="0"/>
          </a:p>
        </p:txBody>
      </p:sp>
      <p:sp>
        <p:nvSpPr>
          <p:cNvPr id="5" name="Text 3"/>
          <p:cNvSpPr/>
          <p:nvPr/>
        </p:nvSpPr>
        <p:spPr>
          <a:xfrm>
            <a:off x="548640" y="1325880"/>
            <a:ext cx="3931920" cy="2743200"/>
          </a:xfrm>
          <a:prstGeom prst="rect">
            <a:avLst/>
          </a:prstGeom>
          <a:noFill/>
          <a:ln/>
        </p:spPr>
        <p:txBody>
          <a:bodyPr wrap="square" rtlCol="0" anchor="t"/>
          <a:lstStyle/>
          <a:p>
            <a:pPr indent="0" marL="0">
              <a:lnSpc>
                <a:spcPts val="1800"/>
              </a:lnSpc>
              <a:buNone/>
            </a:pPr>
            <a:r>
              <a:rPr lang="en-US" sz="1100" dirty="0">
                <a:solidFill>
                  <a:srgbClr val="334155"/>
                </a:solidFill>
                <a:latin typeface="Calibri" pitchFamily="34" charset="0"/>
                <a:ea typeface="Calibri" pitchFamily="34" charset="-122"/>
                <a:cs typeface="Calibri" pitchFamily="34" charset="-120"/>
              </a:rPr>
              <a:t>India has over 15 million gig workers today — delivery riders, cab drivers, freelancers, domestic workers. That number is growing every year.</a:t>
            </a:r>
            <a:endParaRPr lang="en-US" sz="1100" dirty="0"/>
          </a:p>
          <a:p>
            <a:pPr indent="0" marL="0">
              <a:buNone/>
            </a:pPr>
            <a:endParaRPr lang="en-US" sz="1100" dirty="0"/>
          </a:p>
          <a:p>
            <a:pPr indent="0" marL="0">
              <a:lnSpc>
                <a:spcPts val="1800"/>
              </a:lnSpc>
              <a:buNone/>
            </a:pPr>
            <a:r>
              <a:rPr lang="en-US" sz="1100" dirty="0">
                <a:solidFill>
                  <a:srgbClr val="334155"/>
                </a:solidFill>
                <a:latin typeface="Calibri" pitchFamily="34" charset="0"/>
                <a:ea typeface="Calibri" pitchFamily="34" charset="-122"/>
                <a:cs typeface="Calibri" pitchFamily="34" charset="-120"/>
              </a:rPr>
              <a:t>But traditional banks don't work for them. No salary slips, no ITR, no credit history. When they need money urgently, most end up borrowing from local lenders at crazy interest rates.</a:t>
            </a:r>
            <a:endParaRPr lang="en-US" sz="1100" dirty="0"/>
          </a:p>
          <a:p>
            <a:pPr indent="0" marL="0">
              <a:buNone/>
            </a:pPr>
            <a:endParaRPr lang="en-US" sz="1100" dirty="0"/>
          </a:p>
          <a:p>
            <a:pPr indent="0" marL="0">
              <a:lnSpc>
                <a:spcPts val="1800"/>
              </a:lnSpc>
              <a:buNone/>
            </a:pPr>
            <a:r>
              <a:rPr lang="en-US" sz="1100" dirty="0">
                <a:solidFill>
                  <a:srgbClr val="334155"/>
                </a:solidFill>
                <a:latin typeface="Calibri" pitchFamily="34" charset="0"/>
                <a:ea typeface="Calibri" pitchFamily="34" charset="-122"/>
                <a:cs typeface="Calibri" pitchFamily="34" charset="-120"/>
              </a:rPr>
              <a:t>The core issue is simple: all banking products are designed for people with fixed monthly incomes. Gig workers don't fit that model.</a:t>
            </a:r>
            <a:endParaRPr lang="en-US" sz="1100" dirty="0"/>
          </a:p>
        </p:txBody>
      </p:sp>
      <p:sp>
        <p:nvSpPr>
          <p:cNvPr id="6" name="Shape 4"/>
          <p:cNvSpPr/>
          <p:nvPr/>
        </p:nvSpPr>
        <p:spPr>
          <a:xfrm>
            <a:off x="4937760" y="1325880"/>
            <a:ext cx="1828800" cy="1325880"/>
          </a:xfrm>
          <a:prstGeom prst="roundRect">
            <a:avLst>
              <a:gd name="adj" fmla="val 8276"/>
            </a:avLst>
          </a:prstGeom>
          <a:solidFill>
            <a:srgbClr val="F1F5F9"/>
          </a:solidFill>
          <a:ln/>
        </p:spPr>
      </p:sp>
      <p:sp>
        <p:nvSpPr>
          <p:cNvPr id="7" name="Shape 5"/>
          <p:cNvSpPr/>
          <p:nvPr/>
        </p:nvSpPr>
        <p:spPr>
          <a:xfrm>
            <a:off x="4937760" y="1325880"/>
            <a:ext cx="1828800" cy="45720"/>
          </a:xfrm>
          <a:prstGeom prst="rect">
            <a:avLst>
              <a:gd name="adj" fmla="val 40000"/>
            </a:avLst>
          </a:prstGeom>
          <a:solidFill>
            <a:srgbClr val="0EA5E9"/>
          </a:solidFill>
          <a:ln/>
        </p:spPr>
      </p:sp>
      <p:sp>
        <p:nvSpPr>
          <p:cNvPr id="8" name="Text 6"/>
          <p:cNvSpPr/>
          <p:nvPr/>
        </p:nvSpPr>
        <p:spPr>
          <a:xfrm>
            <a:off x="5074920" y="1508760"/>
            <a:ext cx="1554480" cy="457200"/>
          </a:xfrm>
          <a:prstGeom prst="rect">
            <a:avLst/>
          </a:prstGeom>
          <a:noFill/>
          <a:ln/>
        </p:spPr>
        <p:txBody>
          <a:bodyPr wrap="square" lIns="0" tIns="0" rIns="0" bIns="0" rtlCol="0" anchor="ctr"/>
          <a:lstStyle/>
          <a:p>
            <a:pPr indent="0" marL="0">
              <a:buNone/>
            </a:pPr>
            <a:r>
              <a:rPr lang="en-US" sz="2600" b="1" dirty="0">
                <a:solidFill>
                  <a:srgbClr val="0EA5E9"/>
                </a:solidFill>
                <a:latin typeface="Calibri" pitchFamily="34" charset="0"/>
                <a:ea typeface="Calibri" pitchFamily="34" charset="-122"/>
                <a:cs typeface="Calibri" pitchFamily="34" charset="-120"/>
              </a:rPr>
              <a:t>77%</a:t>
            </a:r>
            <a:endParaRPr lang="en-US" sz="2600" dirty="0"/>
          </a:p>
        </p:txBody>
      </p:sp>
      <p:sp>
        <p:nvSpPr>
          <p:cNvPr id="9" name="Text 7"/>
          <p:cNvSpPr/>
          <p:nvPr/>
        </p:nvSpPr>
        <p:spPr>
          <a:xfrm>
            <a:off x="5074920" y="2011680"/>
            <a:ext cx="1554480" cy="45720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struggle with</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irregular cash flow</a:t>
            </a:r>
            <a:endParaRPr lang="en-US" sz="950" dirty="0"/>
          </a:p>
        </p:txBody>
      </p:sp>
      <p:sp>
        <p:nvSpPr>
          <p:cNvPr id="10" name="Shape 8"/>
          <p:cNvSpPr/>
          <p:nvPr/>
        </p:nvSpPr>
        <p:spPr>
          <a:xfrm>
            <a:off x="6903720" y="1325880"/>
            <a:ext cx="1828800" cy="1325880"/>
          </a:xfrm>
          <a:prstGeom prst="roundRect">
            <a:avLst>
              <a:gd name="adj" fmla="val 8276"/>
            </a:avLst>
          </a:prstGeom>
          <a:solidFill>
            <a:srgbClr val="F1F5F9"/>
          </a:solidFill>
          <a:ln/>
        </p:spPr>
      </p:sp>
      <p:sp>
        <p:nvSpPr>
          <p:cNvPr id="11" name="Shape 9"/>
          <p:cNvSpPr/>
          <p:nvPr/>
        </p:nvSpPr>
        <p:spPr>
          <a:xfrm>
            <a:off x="6903720" y="1325880"/>
            <a:ext cx="1828800" cy="45720"/>
          </a:xfrm>
          <a:prstGeom prst="rect">
            <a:avLst>
              <a:gd name="adj" fmla="val 40000"/>
            </a:avLst>
          </a:prstGeom>
          <a:solidFill>
            <a:srgbClr val="EF4444"/>
          </a:solidFill>
          <a:ln/>
        </p:spPr>
      </p:sp>
      <p:sp>
        <p:nvSpPr>
          <p:cNvPr id="12" name="Text 10"/>
          <p:cNvSpPr/>
          <p:nvPr/>
        </p:nvSpPr>
        <p:spPr>
          <a:xfrm>
            <a:off x="7040880" y="1508760"/>
            <a:ext cx="1554480" cy="457200"/>
          </a:xfrm>
          <a:prstGeom prst="rect">
            <a:avLst/>
          </a:prstGeom>
          <a:noFill/>
          <a:ln/>
        </p:spPr>
        <p:txBody>
          <a:bodyPr wrap="square" lIns="0" tIns="0" rIns="0" bIns="0" rtlCol="0" anchor="ctr"/>
          <a:lstStyle/>
          <a:p>
            <a:pPr indent="0" marL="0">
              <a:buNone/>
            </a:pPr>
            <a:r>
              <a:rPr lang="en-US" sz="2600" b="1" dirty="0">
                <a:solidFill>
                  <a:srgbClr val="EF4444"/>
                </a:solidFill>
                <a:latin typeface="Calibri" pitchFamily="34" charset="0"/>
                <a:ea typeface="Calibri" pitchFamily="34" charset="-122"/>
                <a:cs typeface="Calibri" pitchFamily="34" charset="-120"/>
              </a:rPr>
              <a:t>65%</a:t>
            </a:r>
            <a:endParaRPr lang="en-US" sz="2600" dirty="0"/>
          </a:p>
        </p:txBody>
      </p:sp>
      <p:sp>
        <p:nvSpPr>
          <p:cNvPr id="13" name="Text 11"/>
          <p:cNvSpPr/>
          <p:nvPr/>
        </p:nvSpPr>
        <p:spPr>
          <a:xfrm>
            <a:off x="7040880" y="2011680"/>
            <a:ext cx="1554480" cy="45720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denied loans by</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traditional banks</a:t>
            </a:r>
            <a:endParaRPr lang="en-US" sz="950" dirty="0"/>
          </a:p>
        </p:txBody>
      </p:sp>
      <p:sp>
        <p:nvSpPr>
          <p:cNvPr id="14" name="Shape 12"/>
          <p:cNvSpPr/>
          <p:nvPr/>
        </p:nvSpPr>
        <p:spPr>
          <a:xfrm>
            <a:off x="4937760" y="2880360"/>
            <a:ext cx="1828800" cy="1325880"/>
          </a:xfrm>
          <a:prstGeom prst="roundRect">
            <a:avLst>
              <a:gd name="adj" fmla="val 8276"/>
            </a:avLst>
          </a:prstGeom>
          <a:solidFill>
            <a:srgbClr val="F1F5F9"/>
          </a:solidFill>
          <a:ln/>
        </p:spPr>
      </p:sp>
      <p:sp>
        <p:nvSpPr>
          <p:cNvPr id="15" name="Shape 13"/>
          <p:cNvSpPr/>
          <p:nvPr/>
        </p:nvSpPr>
        <p:spPr>
          <a:xfrm>
            <a:off x="4937760" y="2880360"/>
            <a:ext cx="1828800" cy="45720"/>
          </a:xfrm>
          <a:prstGeom prst="rect">
            <a:avLst>
              <a:gd name="adj" fmla="val 40000"/>
            </a:avLst>
          </a:prstGeom>
          <a:solidFill>
            <a:srgbClr val="F59E0B"/>
          </a:solidFill>
          <a:ln/>
        </p:spPr>
      </p:sp>
      <p:sp>
        <p:nvSpPr>
          <p:cNvPr id="16" name="Text 14"/>
          <p:cNvSpPr/>
          <p:nvPr/>
        </p:nvSpPr>
        <p:spPr>
          <a:xfrm>
            <a:off x="5074920" y="3063240"/>
            <a:ext cx="1554480" cy="457200"/>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16%</a:t>
            </a:r>
            <a:endParaRPr lang="en-US" sz="2600" dirty="0"/>
          </a:p>
        </p:txBody>
      </p:sp>
      <p:sp>
        <p:nvSpPr>
          <p:cNvPr id="17" name="Text 15"/>
          <p:cNvSpPr/>
          <p:nvPr/>
        </p:nvSpPr>
        <p:spPr>
          <a:xfrm>
            <a:off x="5074920" y="3566160"/>
            <a:ext cx="1554480" cy="45720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have any kind of</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emergency savings</a:t>
            </a:r>
            <a:endParaRPr lang="en-US" sz="950" dirty="0"/>
          </a:p>
        </p:txBody>
      </p:sp>
      <p:sp>
        <p:nvSpPr>
          <p:cNvPr id="18" name="Shape 16"/>
          <p:cNvSpPr/>
          <p:nvPr/>
        </p:nvSpPr>
        <p:spPr>
          <a:xfrm>
            <a:off x="6903720" y="2880360"/>
            <a:ext cx="1828800" cy="1325880"/>
          </a:xfrm>
          <a:prstGeom prst="roundRect">
            <a:avLst>
              <a:gd name="adj" fmla="val 8276"/>
            </a:avLst>
          </a:prstGeom>
          <a:solidFill>
            <a:srgbClr val="F1F5F9"/>
          </a:solidFill>
          <a:ln/>
        </p:spPr>
      </p:sp>
      <p:sp>
        <p:nvSpPr>
          <p:cNvPr id="19" name="Shape 17"/>
          <p:cNvSpPr/>
          <p:nvPr/>
        </p:nvSpPr>
        <p:spPr>
          <a:xfrm>
            <a:off x="6903720" y="2880360"/>
            <a:ext cx="1828800" cy="45720"/>
          </a:xfrm>
          <a:prstGeom prst="rect">
            <a:avLst>
              <a:gd name="adj" fmla="val 40000"/>
            </a:avLst>
          </a:prstGeom>
          <a:solidFill>
            <a:srgbClr val="10B981"/>
          </a:solidFill>
          <a:ln/>
        </p:spPr>
      </p:sp>
      <p:sp>
        <p:nvSpPr>
          <p:cNvPr id="20" name="Text 18"/>
          <p:cNvSpPr/>
          <p:nvPr/>
        </p:nvSpPr>
        <p:spPr>
          <a:xfrm>
            <a:off x="7040880" y="3063240"/>
            <a:ext cx="1554480" cy="457200"/>
          </a:xfrm>
          <a:prstGeom prst="rect">
            <a:avLst/>
          </a:prstGeom>
          <a:noFill/>
          <a:ln/>
        </p:spPr>
        <p:txBody>
          <a:bodyPr wrap="square" lIns="0" tIns="0" rIns="0" bIns="0" rtlCol="0" anchor="ctr"/>
          <a:lstStyle/>
          <a:p>
            <a:pPr indent="0" marL="0">
              <a:buNone/>
            </a:pPr>
            <a:r>
              <a:rPr lang="en-US" sz="2600" b="1" dirty="0">
                <a:solidFill>
                  <a:srgbClr val="10B981"/>
                </a:solidFill>
                <a:latin typeface="Calibri" pitchFamily="34" charset="0"/>
                <a:ea typeface="Calibri" pitchFamily="34" charset="-122"/>
                <a:cs typeface="Calibri" pitchFamily="34" charset="-120"/>
              </a:rPr>
              <a:t>300M+</a:t>
            </a:r>
            <a:endParaRPr lang="en-US" sz="2600" dirty="0"/>
          </a:p>
        </p:txBody>
      </p:sp>
      <p:sp>
        <p:nvSpPr>
          <p:cNvPr id="21" name="Text 19"/>
          <p:cNvSpPr/>
          <p:nvPr/>
        </p:nvSpPr>
        <p:spPr>
          <a:xfrm>
            <a:off x="7040880" y="3566160"/>
            <a:ext cx="1554480" cy="45720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gig workers globally</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are underserved</a:t>
            </a:r>
            <a:endParaRPr lang="en-US" sz="950" dirty="0"/>
          </a:p>
        </p:txBody>
      </p:sp>
      <p:sp>
        <p:nvSpPr>
          <p:cNvPr id="22" name="Shape 20"/>
          <p:cNvSpPr/>
          <p:nvPr/>
        </p:nvSpPr>
        <p:spPr>
          <a:xfrm>
            <a:off x="0" y="4892040"/>
            <a:ext cx="9144000" cy="9144"/>
          </a:xfrm>
          <a:prstGeom prst="rect">
            <a:avLst/>
          </a:prstGeom>
          <a:solidFill>
            <a:srgbClr val="E2E8F0"/>
          </a:solidFill>
          <a:ln/>
        </p:spPr>
      </p:sp>
      <p:sp>
        <p:nvSpPr>
          <p:cNvPr id="23" name="Text 21"/>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24" name="Text 22"/>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OUR SOLUTION</a:t>
            </a:r>
            <a:endParaRPr lang="en-US" sz="2800" dirty="0"/>
          </a:p>
        </p:txBody>
      </p:sp>
      <p:sp>
        <p:nvSpPr>
          <p:cNvPr id="4" name="Text 2"/>
          <p:cNvSpPr/>
          <p:nvPr/>
        </p:nvSpPr>
        <p:spPr>
          <a:xfrm>
            <a:off x="548640" y="777240"/>
            <a:ext cx="8229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Four pillars working together to build real financial resilience</a:t>
            </a:r>
            <a:endParaRPr lang="en-US" sz="1200" dirty="0"/>
          </a:p>
        </p:txBody>
      </p:sp>
      <p:sp>
        <p:nvSpPr>
          <p:cNvPr id="5" name="Shape 3"/>
          <p:cNvSpPr/>
          <p:nvPr/>
        </p:nvSpPr>
        <p:spPr>
          <a:xfrm>
            <a:off x="548640" y="1325880"/>
            <a:ext cx="3840480" cy="1508760"/>
          </a:xfrm>
          <a:prstGeom prst="roundRect">
            <a:avLst>
              <a:gd name="adj" fmla="val 7273"/>
            </a:avLst>
          </a:prstGeom>
          <a:solidFill>
            <a:srgbClr val="F1F5F9"/>
          </a:solidFill>
          <a:ln/>
        </p:spPr>
      </p:sp>
      <p:sp>
        <p:nvSpPr>
          <p:cNvPr id="6" name="Shape 4"/>
          <p:cNvSpPr/>
          <p:nvPr/>
        </p:nvSpPr>
        <p:spPr>
          <a:xfrm>
            <a:off x="548640" y="1325880"/>
            <a:ext cx="54864" cy="1508760"/>
          </a:xfrm>
          <a:prstGeom prst="rect">
            <a:avLst/>
          </a:prstGeom>
          <a:solidFill>
            <a:srgbClr val="0EA5E9"/>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7240" y="1508760"/>
            <a:ext cx="365760" cy="365760"/>
          </a:xfrm>
          <a:prstGeom prst="rect">
            <a:avLst/>
          </a:prstGeom>
        </p:spPr>
      </p:pic>
      <p:sp>
        <p:nvSpPr>
          <p:cNvPr id="8" name="Text 5"/>
          <p:cNvSpPr/>
          <p:nvPr/>
        </p:nvSpPr>
        <p:spPr>
          <a:xfrm>
            <a:off x="1280160" y="1490472"/>
            <a:ext cx="283464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Income Intelligence</a:t>
            </a:r>
            <a:endParaRPr lang="en-US" sz="1400" dirty="0"/>
          </a:p>
        </p:txBody>
      </p:sp>
      <p:sp>
        <p:nvSpPr>
          <p:cNvPr id="9" name="Text 6"/>
          <p:cNvSpPr/>
          <p:nvPr/>
        </p:nvSpPr>
        <p:spPr>
          <a:xfrm>
            <a:off x="777240" y="1920240"/>
            <a:ext cx="3383280" cy="77724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We look at your earnings across Swiggy, Uber, freelance gigs and figure out your income patterns. When you'll earn more, when things slow down.</a:t>
            </a:r>
            <a:endParaRPr lang="en-US" sz="1000" dirty="0"/>
          </a:p>
        </p:txBody>
      </p:sp>
      <p:sp>
        <p:nvSpPr>
          <p:cNvPr id="10" name="Shape 7"/>
          <p:cNvSpPr/>
          <p:nvPr/>
        </p:nvSpPr>
        <p:spPr>
          <a:xfrm>
            <a:off x="4663440" y="1325880"/>
            <a:ext cx="3840480" cy="1508760"/>
          </a:xfrm>
          <a:prstGeom prst="roundRect">
            <a:avLst>
              <a:gd name="adj" fmla="val 7273"/>
            </a:avLst>
          </a:prstGeom>
          <a:solidFill>
            <a:srgbClr val="F1F5F9"/>
          </a:solidFill>
          <a:ln/>
        </p:spPr>
      </p:sp>
      <p:sp>
        <p:nvSpPr>
          <p:cNvPr id="11" name="Shape 8"/>
          <p:cNvSpPr/>
          <p:nvPr/>
        </p:nvSpPr>
        <p:spPr>
          <a:xfrm>
            <a:off x="4663440" y="1325880"/>
            <a:ext cx="54864" cy="1508760"/>
          </a:xfrm>
          <a:prstGeom prst="rect">
            <a:avLst/>
          </a:prstGeom>
          <a:solidFill>
            <a:srgbClr val="10B981"/>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92040" y="1508760"/>
            <a:ext cx="365760" cy="365760"/>
          </a:xfrm>
          <a:prstGeom prst="rect">
            <a:avLst/>
          </a:prstGeom>
        </p:spPr>
      </p:pic>
      <p:sp>
        <p:nvSpPr>
          <p:cNvPr id="13" name="Text 9"/>
          <p:cNvSpPr/>
          <p:nvPr/>
        </p:nvSpPr>
        <p:spPr>
          <a:xfrm>
            <a:off x="5394960" y="1490472"/>
            <a:ext cx="283464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Smart Savings</a:t>
            </a:r>
            <a:endParaRPr lang="en-US" sz="1400" dirty="0"/>
          </a:p>
        </p:txBody>
      </p:sp>
      <p:sp>
        <p:nvSpPr>
          <p:cNvPr id="14" name="Text 10"/>
          <p:cNvSpPr/>
          <p:nvPr/>
        </p:nvSpPr>
        <p:spPr>
          <a:xfrm>
            <a:off x="4892040" y="1920240"/>
            <a:ext cx="3383280" cy="77724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Instead of saving a fixed amount every month, we save more during your good weeks and pull back when times are tough. Adapts to your life.</a:t>
            </a:r>
            <a:endParaRPr lang="en-US" sz="1000" dirty="0"/>
          </a:p>
        </p:txBody>
      </p:sp>
      <p:sp>
        <p:nvSpPr>
          <p:cNvPr id="15" name="Shape 11"/>
          <p:cNvSpPr/>
          <p:nvPr/>
        </p:nvSpPr>
        <p:spPr>
          <a:xfrm>
            <a:off x="548640" y="3063240"/>
            <a:ext cx="3840480" cy="1508760"/>
          </a:xfrm>
          <a:prstGeom prst="roundRect">
            <a:avLst>
              <a:gd name="adj" fmla="val 7273"/>
            </a:avLst>
          </a:prstGeom>
          <a:solidFill>
            <a:srgbClr val="F1F5F9"/>
          </a:solidFill>
          <a:ln/>
        </p:spPr>
      </p:sp>
      <p:sp>
        <p:nvSpPr>
          <p:cNvPr id="16" name="Shape 12"/>
          <p:cNvSpPr/>
          <p:nvPr/>
        </p:nvSpPr>
        <p:spPr>
          <a:xfrm>
            <a:off x="548640" y="3063240"/>
            <a:ext cx="54864" cy="1508760"/>
          </a:xfrm>
          <a:prstGeom prst="rect">
            <a:avLst/>
          </a:prstGeom>
          <a:solidFill>
            <a:srgbClr val="F59E0B"/>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240" y="3246120"/>
            <a:ext cx="365760" cy="365760"/>
          </a:xfrm>
          <a:prstGeom prst="rect">
            <a:avLst/>
          </a:prstGeom>
        </p:spPr>
      </p:pic>
      <p:sp>
        <p:nvSpPr>
          <p:cNvPr id="18" name="Text 13"/>
          <p:cNvSpPr/>
          <p:nvPr/>
        </p:nvSpPr>
        <p:spPr>
          <a:xfrm>
            <a:off x="1280160" y="3227832"/>
            <a:ext cx="283464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GigScore Credit</a:t>
            </a:r>
            <a:endParaRPr lang="en-US" sz="1400" dirty="0"/>
          </a:p>
        </p:txBody>
      </p:sp>
      <p:sp>
        <p:nvSpPr>
          <p:cNvPr id="19" name="Text 14"/>
          <p:cNvSpPr/>
          <p:nvPr/>
        </p:nvSpPr>
        <p:spPr>
          <a:xfrm>
            <a:off x="777240" y="3657600"/>
            <a:ext cx="3383280" cy="77724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An alternative credit score. No salary slips needed. We use your platform ratings, earning consistency, and savings behavior to check creditworthiness.</a:t>
            </a:r>
            <a:endParaRPr lang="en-US" sz="1000" dirty="0"/>
          </a:p>
        </p:txBody>
      </p:sp>
      <p:sp>
        <p:nvSpPr>
          <p:cNvPr id="20" name="Shape 15"/>
          <p:cNvSpPr/>
          <p:nvPr/>
        </p:nvSpPr>
        <p:spPr>
          <a:xfrm>
            <a:off x="4663440" y="3063240"/>
            <a:ext cx="3840480" cy="1508760"/>
          </a:xfrm>
          <a:prstGeom prst="roundRect">
            <a:avLst>
              <a:gd name="adj" fmla="val 7273"/>
            </a:avLst>
          </a:prstGeom>
          <a:solidFill>
            <a:srgbClr val="F1F5F9"/>
          </a:solidFill>
          <a:ln/>
        </p:spPr>
      </p:sp>
      <p:sp>
        <p:nvSpPr>
          <p:cNvPr id="21" name="Shape 16"/>
          <p:cNvSpPr/>
          <p:nvPr/>
        </p:nvSpPr>
        <p:spPr>
          <a:xfrm>
            <a:off x="4663440" y="3063240"/>
            <a:ext cx="54864" cy="1508760"/>
          </a:xfrm>
          <a:prstGeom prst="rect">
            <a:avLst/>
          </a:prstGeom>
          <a:solidFill>
            <a:srgbClr val="8B5CF6"/>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92040" y="3246120"/>
            <a:ext cx="365760" cy="365760"/>
          </a:xfrm>
          <a:prstGeom prst="rect">
            <a:avLst/>
          </a:prstGeom>
        </p:spPr>
      </p:pic>
      <p:sp>
        <p:nvSpPr>
          <p:cNvPr id="23" name="Text 17"/>
          <p:cNvSpPr/>
          <p:nvPr/>
        </p:nvSpPr>
        <p:spPr>
          <a:xfrm>
            <a:off x="5394960" y="3227832"/>
            <a:ext cx="2834640" cy="34747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AI Financial Coach</a:t>
            </a:r>
            <a:endParaRPr lang="en-US" sz="1400" dirty="0"/>
          </a:p>
        </p:txBody>
      </p:sp>
      <p:sp>
        <p:nvSpPr>
          <p:cNvPr id="24" name="Text 18"/>
          <p:cNvSpPr/>
          <p:nvPr/>
        </p:nvSpPr>
        <p:spPr>
          <a:xfrm>
            <a:off x="4892040" y="3657600"/>
            <a:ext cx="3383280" cy="77724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A chatbot that actually understands gig work. Real-time nudges like "You earned extra today, want to put some aside?" Not textbook advice.</a:t>
            </a:r>
            <a:endParaRPr lang="en-US" sz="1000" dirty="0"/>
          </a:p>
        </p:txBody>
      </p:sp>
      <p:sp>
        <p:nvSpPr>
          <p:cNvPr id="25" name="Shape 19"/>
          <p:cNvSpPr/>
          <p:nvPr/>
        </p:nvSpPr>
        <p:spPr>
          <a:xfrm>
            <a:off x="0" y="4892040"/>
            <a:ext cx="9144000" cy="9144"/>
          </a:xfrm>
          <a:prstGeom prst="rect">
            <a:avLst/>
          </a:prstGeom>
          <a:solidFill>
            <a:srgbClr val="E2E8F0"/>
          </a:solidFill>
          <a:ln/>
        </p:spPr>
      </p:sp>
      <p:sp>
        <p:nvSpPr>
          <p:cNvPr id="26" name="Text 20"/>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27" name="Text 21"/>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HOW IT WORKS</a:t>
            </a:r>
            <a:endParaRPr lang="en-US" sz="2800" dirty="0"/>
          </a:p>
        </p:txBody>
      </p:sp>
      <p:sp>
        <p:nvSpPr>
          <p:cNvPr id="4" name="Text 2"/>
          <p:cNvSpPr/>
          <p:nvPr/>
        </p:nvSpPr>
        <p:spPr>
          <a:xfrm>
            <a:off x="548640" y="777240"/>
            <a:ext cx="8229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From sign-up to financial stability in four straightforward steps</a:t>
            </a:r>
            <a:endParaRPr lang="en-US" sz="1200" dirty="0"/>
          </a:p>
        </p:txBody>
      </p:sp>
      <p:sp>
        <p:nvSpPr>
          <p:cNvPr id="5" name="Shape 3"/>
          <p:cNvSpPr/>
          <p:nvPr/>
        </p:nvSpPr>
        <p:spPr>
          <a:xfrm>
            <a:off x="365760" y="1463040"/>
            <a:ext cx="1920240" cy="2743200"/>
          </a:xfrm>
          <a:prstGeom prst="roundRect">
            <a:avLst>
              <a:gd name="adj" fmla="val 5714"/>
            </a:avLst>
          </a:prstGeom>
          <a:solidFill>
            <a:srgbClr val="F1F5F9"/>
          </a:solidFill>
          <a:ln/>
        </p:spPr>
      </p:sp>
      <p:sp>
        <p:nvSpPr>
          <p:cNvPr id="6" name="Shape 4"/>
          <p:cNvSpPr/>
          <p:nvPr/>
        </p:nvSpPr>
        <p:spPr>
          <a:xfrm>
            <a:off x="1005840" y="1600200"/>
            <a:ext cx="548640" cy="365760"/>
          </a:xfrm>
          <a:prstGeom prst="roundRect">
            <a:avLst>
              <a:gd name="adj" fmla="val 25000"/>
            </a:avLst>
          </a:prstGeom>
          <a:solidFill>
            <a:srgbClr val="0EA5E9"/>
          </a:solidFill>
          <a:ln/>
        </p:spPr>
      </p:sp>
      <p:sp>
        <p:nvSpPr>
          <p:cNvPr id="7" name="Text 5"/>
          <p:cNvSpPr/>
          <p:nvPr/>
        </p:nvSpPr>
        <p:spPr>
          <a:xfrm>
            <a:off x="1005840" y="1600200"/>
            <a:ext cx="5486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148840"/>
            <a:ext cx="457200" cy="457200"/>
          </a:xfrm>
          <a:prstGeom prst="rect">
            <a:avLst/>
          </a:prstGeom>
        </p:spPr>
      </p:pic>
      <p:sp>
        <p:nvSpPr>
          <p:cNvPr id="9" name="Text 6"/>
          <p:cNvSpPr/>
          <p:nvPr/>
        </p:nvSpPr>
        <p:spPr>
          <a:xfrm>
            <a:off x="502920" y="2743200"/>
            <a:ext cx="16459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Connect Your Gigs</a:t>
            </a:r>
            <a:endParaRPr lang="en-US" sz="1200" dirty="0"/>
          </a:p>
        </p:txBody>
      </p:sp>
      <p:sp>
        <p:nvSpPr>
          <p:cNvPr id="10" name="Text 7"/>
          <p:cNvSpPr/>
          <p:nvPr/>
        </p:nvSpPr>
        <p:spPr>
          <a:xfrm>
            <a:off x="502920" y="3154680"/>
            <a:ext cx="1645920" cy="914400"/>
          </a:xfrm>
          <a:prstGeom prst="rect">
            <a:avLst/>
          </a:prstGeom>
          <a:noFill/>
          <a:ln/>
        </p:spPr>
        <p:txBody>
          <a:bodyPr wrap="square" lIns="0" tIns="0" rIns="0" bIns="0" rtlCol="0" anchor="ctr"/>
          <a:lstStyle/>
          <a:p>
            <a:pPr algn="ctr" indent="0" marL="0">
              <a:lnSpc>
                <a:spcPts val="1400"/>
              </a:lnSpc>
              <a:buNone/>
            </a:pPr>
            <a:r>
              <a:rPr lang="en-US" sz="950" dirty="0">
                <a:solidFill>
                  <a:srgbClr val="334155"/>
                </a:solidFill>
                <a:latin typeface="Calibri" pitchFamily="34" charset="0"/>
                <a:ea typeface="Calibri" pitchFamily="34" charset="-122"/>
                <a:cs typeface="Calibri" pitchFamily="34" charset="-120"/>
              </a:rPr>
              <a:t>Link Swiggy, Uber, Zomato with a 60-second OTP login. We pull earnings through secure read-only API access.</a:t>
            </a:r>
            <a:endParaRPr lang="en-US" sz="950" dirty="0"/>
          </a:p>
        </p:txBody>
      </p:sp>
      <p:sp>
        <p:nvSpPr>
          <p:cNvPr id="11" name="Text 8"/>
          <p:cNvSpPr/>
          <p:nvPr/>
        </p:nvSpPr>
        <p:spPr>
          <a:xfrm>
            <a:off x="2286000" y="2468880"/>
            <a:ext cx="228600" cy="27432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2" name="Shape 9"/>
          <p:cNvSpPr/>
          <p:nvPr/>
        </p:nvSpPr>
        <p:spPr>
          <a:xfrm>
            <a:off x="2514600" y="1463040"/>
            <a:ext cx="1920240" cy="2743200"/>
          </a:xfrm>
          <a:prstGeom prst="roundRect">
            <a:avLst>
              <a:gd name="adj" fmla="val 5714"/>
            </a:avLst>
          </a:prstGeom>
          <a:solidFill>
            <a:srgbClr val="F1F5F9"/>
          </a:solidFill>
          <a:ln/>
        </p:spPr>
      </p:sp>
      <p:sp>
        <p:nvSpPr>
          <p:cNvPr id="13" name="Shape 10"/>
          <p:cNvSpPr/>
          <p:nvPr/>
        </p:nvSpPr>
        <p:spPr>
          <a:xfrm>
            <a:off x="3154680" y="1600200"/>
            <a:ext cx="548640" cy="365760"/>
          </a:xfrm>
          <a:prstGeom prst="roundRect">
            <a:avLst>
              <a:gd name="adj" fmla="val 25000"/>
            </a:avLst>
          </a:prstGeom>
          <a:solidFill>
            <a:srgbClr val="10B981"/>
          </a:solidFill>
          <a:ln/>
        </p:spPr>
      </p:sp>
      <p:sp>
        <p:nvSpPr>
          <p:cNvPr id="14" name="Text 11"/>
          <p:cNvSpPr/>
          <p:nvPr/>
        </p:nvSpPr>
        <p:spPr>
          <a:xfrm>
            <a:off x="3154680" y="1600200"/>
            <a:ext cx="5486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4680" y="2148840"/>
            <a:ext cx="457200" cy="457200"/>
          </a:xfrm>
          <a:prstGeom prst="rect">
            <a:avLst/>
          </a:prstGeom>
        </p:spPr>
      </p:pic>
      <p:sp>
        <p:nvSpPr>
          <p:cNvPr id="16" name="Text 12"/>
          <p:cNvSpPr/>
          <p:nvPr/>
        </p:nvSpPr>
        <p:spPr>
          <a:xfrm>
            <a:off x="2651760" y="2743200"/>
            <a:ext cx="16459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AI Learns Your Pattern</a:t>
            </a:r>
            <a:endParaRPr lang="en-US" sz="1200" dirty="0"/>
          </a:p>
        </p:txBody>
      </p:sp>
      <p:sp>
        <p:nvSpPr>
          <p:cNvPr id="17" name="Text 13"/>
          <p:cNvSpPr/>
          <p:nvPr/>
        </p:nvSpPr>
        <p:spPr>
          <a:xfrm>
            <a:off x="2651760" y="3154680"/>
            <a:ext cx="1645920" cy="914400"/>
          </a:xfrm>
          <a:prstGeom prst="rect">
            <a:avLst/>
          </a:prstGeom>
          <a:noFill/>
          <a:ln/>
        </p:spPr>
        <p:txBody>
          <a:bodyPr wrap="square" lIns="0" tIns="0" rIns="0" bIns="0" rtlCol="0" anchor="ctr"/>
          <a:lstStyle/>
          <a:p>
            <a:pPr algn="ctr" indent="0" marL="0">
              <a:lnSpc>
                <a:spcPts val="1400"/>
              </a:lnSpc>
              <a:buNone/>
            </a:pPr>
            <a:r>
              <a:rPr lang="en-US" sz="950" dirty="0">
                <a:solidFill>
                  <a:srgbClr val="334155"/>
                </a:solidFill>
                <a:latin typeface="Calibri" pitchFamily="34" charset="0"/>
                <a:ea typeface="Calibri" pitchFamily="34" charset="-122"/>
                <a:cs typeface="Calibri" pitchFamily="34" charset="-120"/>
              </a:rPr>
              <a:t>Our models analyze 6 months of your data — peak days, lean weeks, spending habits — to build your financial profile.</a:t>
            </a:r>
            <a:endParaRPr lang="en-US" sz="950" dirty="0"/>
          </a:p>
        </p:txBody>
      </p:sp>
      <p:sp>
        <p:nvSpPr>
          <p:cNvPr id="18" name="Text 14"/>
          <p:cNvSpPr/>
          <p:nvPr/>
        </p:nvSpPr>
        <p:spPr>
          <a:xfrm>
            <a:off x="4434840" y="2468880"/>
            <a:ext cx="228600" cy="27432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9" name="Shape 15"/>
          <p:cNvSpPr/>
          <p:nvPr/>
        </p:nvSpPr>
        <p:spPr>
          <a:xfrm>
            <a:off x="4663440" y="1463040"/>
            <a:ext cx="1920240" cy="2743200"/>
          </a:xfrm>
          <a:prstGeom prst="roundRect">
            <a:avLst>
              <a:gd name="adj" fmla="val 5714"/>
            </a:avLst>
          </a:prstGeom>
          <a:solidFill>
            <a:srgbClr val="F1F5F9"/>
          </a:solidFill>
          <a:ln/>
        </p:spPr>
      </p:sp>
      <p:sp>
        <p:nvSpPr>
          <p:cNvPr id="20" name="Shape 16"/>
          <p:cNvSpPr/>
          <p:nvPr/>
        </p:nvSpPr>
        <p:spPr>
          <a:xfrm>
            <a:off x="5303520" y="1600200"/>
            <a:ext cx="548640" cy="365760"/>
          </a:xfrm>
          <a:prstGeom prst="roundRect">
            <a:avLst>
              <a:gd name="adj" fmla="val 25000"/>
            </a:avLst>
          </a:prstGeom>
          <a:solidFill>
            <a:srgbClr val="F59E0B"/>
          </a:solidFill>
          <a:ln/>
        </p:spPr>
      </p:sp>
      <p:sp>
        <p:nvSpPr>
          <p:cNvPr id="21" name="Text 17"/>
          <p:cNvSpPr/>
          <p:nvPr/>
        </p:nvSpPr>
        <p:spPr>
          <a:xfrm>
            <a:off x="5303520" y="1600200"/>
            <a:ext cx="5486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03520" y="2148840"/>
            <a:ext cx="457200" cy="457200"/>
          </a:xfrm>
          <a:prstGeom prst="rect">
            <a:avLst/>
          </a:prstGeom>
        </p:spPr>
      </p:pic>
      <p:sp>
        <p:nvSpPr>
          <p:cNvPr id="23" name="Text 18"/>
          <p:cNvSpPr/>
          <p:nvPr/>
        </p:nvSpPr>
        <p:spPr>
          <a:xfrm>
            <a:off x="4800600" y="2743200"/>
            <a:ext cx="16459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Auto-Save &amp; Score</a:t>
            </a:r>
            <a:endParaRPr lang="en-US" sz="1200" dirty="0"/>
          </a:p>
        </p:txBody>
      </p:sp>
      <p:sp>
        <p:nvSpPr>
          <p:cNvPr id="24" name="Text 19"/>
          <p:cNvSpPr/>
          <p:nvPr/>
        </p:nvSpPr>
        <p:spPr>
          <a:xfrm>
            <a:off x="4800600" y="3154680"/>
            <a:ext cx="1645920" cy="914400"/>
          </a:xfrm>
          <a:prstGeom prst="rect">
            <a:avLst/>
          </a:prstGeom>
          <a:noFill/>
          <a:ln/>
        </p:spPr>
        <p:txBody>
          <a:bodyPr wrap="square" lIns="0" tIns="0" rIns="0" bIns="0" rtlCol="0" anchor="ctr"/>
          <a:lstStyle/>
          <a:p>
            <a:pPr algn="ctr" indent="0" marL="0">
              <a:lnSpc>
                <a:spcPts val="1400"/>
              </a:lnSpc>
              <a:buNone/>
            </a:pPr>
            <a:r>
              <a:rPr lang="en-US" sz="950" dirty="0">
                <a:solidFill>
                  <a:srgbClr val="334155"/>
                </a:solidFill>
                <a:latin typeface="Calibri" pitchFamily="34" charset="0"/>
                <a:ea typeface="Calibri" pitchFamily="34" charset="-122"/>
                <a:cs typeface="Calibri" pitchFamily="34" charset="-120"/>
              </a:rPr>
              <a:t>Auto-saves the right amount each week and builds your GigScore credit profile simultaneously. No manual effort.</a:t>
            </a:r>
            <a:endParaRPr lang="en-US" sz="950" dirty="0"/>
          </a:p>
        </p:txBody>
      </p:sp>
      <p:sp>
        <p:nvSpPr>
          <p:cNvPr id="25" name="Text 20"/>
          <p:cNvSpPr/>
          <p:nvPr/>
        </p:nvSpPr>
        <p:spPr>
          <a:xfrm>
            <a:off x="6583680" y="2468880"/>
            <a:ext cx="228600" cy="27432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26" name="Shape 21"/>
          <p:cNvSpPr/>
          <p:nvPr/>
        </p:nvSpPr>
        <p:spPr>
          <a:xfrm>
            <a:off x="6812280" y="1463040"/>
            <a:ext cx="1920240" cy="2743200"/>
          </a:xfrm>
          <a:prstGeom prst="roundRect">
            <a:avLst>
              <a:gd name="adj" fmla="val 5714"/>
            </a:avLst>
          </a:prstGeom>
          <a:solidFill>
            <a:srgbClr val="F1F5F9"/>
          </a:solidFill>
          <a:ln/>
        </p:spPr>
      </p:sp>
      <p:sp>
        <p:nvSpPr>
          <p:cNvPr id="27" name="Shape 22"/>
          <p:cNvSpPr/>
          <p:nvPr/>
        </p:nvSpPr>
        <p:spPr>
          <a:xfrm>
            <a:off x="7452360" y="1600200"/>
            <a:ext cx="548640" cy="365760"/>
          </a:xfrm>
          <a:prstGeom prst="roundRect">
            <a:avLst>
              <a:gd name="adj" fmla="val 25000"/>
            </a:avLst>
          </a:prstGeom>
          <a:solidFill>
            <a:srgbClr val="8B5CF6"/>
          </a:solidFill>
          <a:ln/>
        </p:spPr>
      </p:sp>
      <p:sp>
        <p:nvSpPr>
          <p:cNvPr id="28" name="Text 23"/>
          <p:cNvSpPr/>
          <p:nvPr/>
        </p:nvSpPr>
        <p:spPr>
          <a:xfrm>
            <a:off x="7452360" y="1600200"/>
            <a:ext cx="5486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pic>
        <p:nvPicPr>
          <p:cNvPr id="2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2360" y="2148840"/>
            <a:ext cx="457200" cy="457200"/>
          </a:xfrm>
          <a:prstGeom prst="rect">
            <a:avLst/>
          </a:prstGeom>
        </p:spPr>
      </p:pic>
      <p:sp>
        <p:nvSpPr>
          <p:cNvPr id="30" name="Text 24"/>
          <p:cNvSpPr/>
          <p:nvPr/>
        </p:nvSpPr>
        <p:spPr>
          <a:xfrm>
            <a:off x="6949440" y="2743200"/>
            <a:ext cx="164592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Get Guidance</a:t>
            </a:r>
            <a:endParaRPr lang="en-US" sz="1200" dirty="0"/>
          </a:p>
        </p:txBody>
      </p:sp>
      <p:sp>
        <p:nvSpPr>
          <p:cNvPr id="31" name="Text 25"/>
          <p:cNvSpPr/>
          <p:nvPr/>
        </p:nvSpPr>
        <p:spPr>
          <a:xfrm>
            <a:off x="6949440" y="3154680"/>
            <a:ext cx="1645920" cy="914400"/>
          </a:xfrm>
          <a:prstGeom prst="rect">
            <a:avLst/>
          </a:prstGeom>
          <a:noFill/>
          <a:ln/>
        </p:spPr>
        <p:txBody>
          <a:bodyPr wrap="square" lIns="0" tIns="0" rIns="0" bIns="0" rtlCol="0" anchor="ctr"/>
          <a:lstStyle/>
          <a:p>
            <a:pPr algn="ctr" indent="0" marL="0">
              <a:lnSpc>
                <a:spcPts val="1400"/>
              </a:lnSpc>
              <a:buNone/>
            </a:pPr>
            <a:r>
              <a:rPr lang="en-US" sz="950" dirty="0">
                <a:solidFill>
                  <a:srgbClr val="334155"/>
                </a:solidFill>
                <a:latin typeface="Calibri" pitchFamily="34" charset="0"/>
                <a:ea typeface="Calibri" pitchFamily="34" charset="-122"/>
                <a:cs typeface="Calibri" pitchFamily="34" charset="-120"/>
              </a:rPr>
              <a:t>AI coach sends daily tips, warns you before lean periods, and helps access micro-credit when you genuinely need it.</a:t>
            </a:r>
            <a:endParaRPr lang="en-US" sz="950" dirty="0"/>
          </a:p>
        </p:txBody>
      </p:sp>
      <p:sp>
        <p:nvSpPr>
          <p:cNvPr id="32" name="Shape 26"/>
          <p:cNvSpPr/>
          <p:nvPr/>
        </p:nvSpPr>
        <p:spPr>
          <a:xfrm>
            <a:off x="0" y="4892040"/>
            <a:ext cx="9144000" cy="9144"/>
          </a:xfrm>
          <a:prstGeom prst="rect">
            <a:avLst/>
          </a:prstGeom>
          <a:solidFill>
            <a:srgbClr val="E2E8F0"/>
          </a:solidFill>
          <a:ln/>
        </p:spPr>
      </p:sp>
      <p:sp>
        <p:nvSpPr>
          <p:cNvPr id="33" name="Text 27"/>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34" name="Text 28"/>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WHAT MAKES US DIFFERENT</a:t>
            </a:r>
            <a:endParaRPr lang="en-US" sz="2600" dirty="0"/>
          </a:p>
        </p:txBody>
      </p:sp>
      <p:sp>
        <p:nvSpPr>
          <p:cNvPr id="4" name="Text 2"/>
          <p:cNvSpPr/>
          <p:nvPr/>
        </p:nvSpPr>
        <p:spPr>
          <a:xfrm>
            <a:off x="548640" y="777240"/>
            <a:ext cx="8229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Features that most banking apps and fintech platforms simply can't replicate</a:t>
            </a:r>
            <a:endParaRPr lang="en-US" sz="1200" dirty="0"/>
          </a:p>
        </p:txBody>
      </p:sp>
      <p:sp>
        <p:nvSpPr>
          <p:cNvPr id="5" name="Shape 3"/>
          <p:cNvSpPr/>
          <p:nvPr/>
        </p:nvSpPr>
        <p:spPr>
          <a:xfrm>
            <a:off x="548640" y="1325880"/>
            <a:ext cx="3840480" cy="1508760"/>
          </a:xfrm>
          <a:prstGeom prst="roundRect">
            <a:avLst>
              <a:gd name="adj" fmla="val 7273"/>
            </a:avLst>
          </a:prstGeom>
          <a:solidFill>
            <a:srgbClr val="F1F5F9"/>
          </a:solidFill>
          <a:ln/>
        </p:spPr>
      </p:sp>
      <p:sp>
        <p:nvSpPr>
          <p:cNvPr id="6" name="Shape 4"/>
          <p:cNvSpPr/>
          <p:nvPr/>
        </p:nvSpPr>
        <p:spPr>
          <a:xfrm>
            <a:off x="548640" y="1325880"/>
            <a:ext cx="54864" cy="1508760"/>
          </a:xfrm>
          <a:prstGeom prst="rect">
            <a:avLst/>
          </a:prstGeom>
          <a:solidFill>
            <a:srgbClr val="0EA5E9"/>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7240" y="1490472"/>
            <a:ext cx="347472" cy="347472"/>
          </a:xfrm>
          <a:prstGeom prst="rect">
            <a:avLst/>
          </a:prstGeom>
        </p:spPr>
      </p:pic>
      <p:sp>
        <p:nvSpPr>
          <p:cNvPr id="8" name="Text 5"/>
          <p:cNvSpPr/>
          <p:nvPr/>
        </p:nvSpPr>
        <p:spPr>
          <a:xfrm>
            <a:off x="1234440" y="1490472"/>
            <a:ext cx="283464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Rainy Day Buffer</a:t>
            </a:r>
            <a:endParaRPr lang="en-US" sz="1300" dirty="0"/>
          </a:p>
        </p:txBody>
      </p:sp>
      <p:sp>
        <p:nvSpPr>
          <p:cNvPr id="9" name="Text 6"/>
          <p:cNvSpPr/>
          <p:nvPr/>
        </p:nvSpPr>
        <p:spPr>
          <a:xfrm>
            <a:off x="777240" y="1874520"/>
            <a:ext cx="3383280" cy="82296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Keeps a minimum balance locked so you never hit zero. Real emergency? A 2-step override unlocks it in seconds. Rebuilds automatically from your next surplus.</a:t>
            </a:r>
            <a:endParaRPr lang="en-US" sz="950" dirty="0"/>
          </a:p>
        </p:txBody>
      </p:sp>
      <p:sp>
        <p:nvSpPr>
          <p:cNvPr id="10" name="Shape 7"/>
          <p:cNvSpPr/>
          <p:nvPr/>
        </p:nvSpPr>
        <p:spPr>
          <a:xfrm>
            <a:off x="4663440" y="1325880"/>
            <a:ext cx="3840480" cy="1508760"/>
          </a:xfrm>
          <a:prstGeom prst="roundRect">
            <a:avLst>
              <a:gd name="adj" fmla="val 7273"/>
            </a:avLst>
          </a:prstGeom>
          <a:solidFill>
            <a:srgbClr val="F1F5F9"/>
          </a:solidFill>
          <a:ln/>
        </p:spPr>
      </p:sp>
      <p:sp>
        <p:nvSpPr>
          <p:cNvPr id="11" name="Shape 8"/>
          <p:cNvSpPr/>
          <p:nvPr/>
        </p:nvSpPr>
        <p:spPr>
          <a:xfrm>
            <a:off x="4663440" y="1325880"/>
            <a:ext cx="54864" cy="1508760"/>
          </a:xfrm>
          <a:prstGeom prst="rect">
            <a:avLst/>
          </a:prstGeom>
          <a:solidFill>
            <a:srgbClr val="10B981"/>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92040" y="1490472"/>
            <a:ext cx="347472" cy="347472"/>
          </a:xfrm>
          <a:prstGeom prst="rect">
            <a:avLst/>
          </a:prstGeom>
        </p:spPr>
      </p:pic>
      <p:sp>
        <p:nvSpPr>
          <p:cNvPr id="13" name="Text 9"/>
          <p:cNvSpPr/>
          <p:nvPr/>
        </p:nvSpPr>
        <p:spPr>
          <a:xfrm>
            <a:off x="5349240" y="1490472"/>
            <a:ext cx="283464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Surge Saver</a:t>
            </a:r>
            <a:endParaRPr lang="en-US" sz="1300" dirty="0"/>
          </a:p>
        </p:txBody>
      </p:sp>
      <p:sp>
        <p:nvSpPr>
          <p:cNvPr id="14" name="Text 10"/>
          <p:cNvSpPr/>
          <p:nvPr/>
        </p:nvSpPr>
        <p:spPr>
          <a:xfrm>
            <a:off x="4892040" y="1874520"/>
            <a:ext cx="3383280" cy="82296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When you earn above your average (weekend rush, festive season), 20% gets swept into savings before you notice. Behavioral economics doing its thing.</a:t>
            </a:r>
            <a:endParaRPr lang="en-US" sz="950" dirty="0"/>
          </a:p>
        </p:txBody>
      </p:sp>
      <p:sp>
        <p:nvSpPr>
          <p:cNvPr id="15" name="Shape 11"/>
          <p:cNvSpPr/>
          <p:nvPr/>
        </p:nvSpPr>
        <p:spPr>
          <a:xfrm>
            <a:off x="548640" y="3063240"/>
            <a:ext cx="3840480" cy="1508760"/>
          </a:xfrm>
          <a:prstGeom prst="roundRect">
            <a:avLst>
              <a:gd name="adj" fmla="val 7273"/>
            </a:avLst>
          </a:prstGeom>
          <a:solidFill>
            <a:srgbClr val="F1F5F9"/>
          </a:solidFill>
          <a:ln/>
        </p:spPr>
      </p:sp>
      <p:sp>
        <p:nvSpPr>
          <p:cNvPr id="16" name="Shape 12"/>
          <p:cNvSpPr/>
          <p:nvPr/>
        </p:nvSpPr>
        <p:spPr>
          <a:xfrm>
            <a:off x="548640" y="3063240"/>
            <a:ext cx="54864" cy="1508760"/>
          </a:xfrm>
          <a:prstGeom prst="rect">
            <a:avLst/>
          </a:prstGeom>
          <a:solidFill>
            <a:srgbClr val="8B5CF6"/>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240" y="3227832"/>
            <a:ext cx="347472" cy="347472"/>
          </a:xfrm>
          <a:prstGeom prst="rect">
            <a:avLst/>
          </a:prstGeom>
        </p:spPr>
      </p:pic>
      <p:sp>
        <p:nvSpPr>
          <p:cNvPr id="18" name="Text 13"/>
          <p:cNvSpPr/>
          <p:nvPr/>
        </p:nvSpPr>
        <p:spPr>
          <a:xfrm>
            <a:off x="1234440" y="3227832"/>
            <a:ext cx="283464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Platform Switching Advisor</a:t>
            </a:r>
            <a:endParaRPr lang="en-US" sz="1300" dirty="0"/>
          </a:p>
        </p:txBody>
      </p:sp>
      <p:sp>
        <p:nvSpPr>
          <p:cNvPr id="19" name="Text 14"/>
          <p:cNvSpPr/>
          <p:nvPr/>
        </p:nvSpPr>
        <p:spPr>
          <a:xfrm>
            <a:off x="777240" y="3611880"/>
            <a:ext cx="3383280" cy="82296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Our data shows Swiggy pays better on weekends, Uber on weekday afternoons. We tell you exactly when to switch platforms to earn the most per hour.</a:t>
            </a:r>
            <a:endParaRPr lang="en-US" sz="950" dirty="0"/>
          </a:p>
        </p:txBody>
      </p:sp>
      <p:sp>
        <p:nvSpPr>
          <p:cNvPr id="20" name="Shape 15"/>
          <p:cNvSpPr/>
          <p:nvPr/>
        </p:nvSpPr>
        <p:spPr>
          <a:xfrm>
            <a:off x="4663440" y="3063240"/>
            <a:ext cx="3840480" cy="1508760"/>
          </a:xfrm>
          <a:prstGeom prst="roundRect">
            <a:avLst>
              <a:gd name="adj" fmla="val 7273"/>
            </a:avLst>
          </a:prstGeom>
          <a:solidFill>
            <a:srgbClr val="F1F5F9"/>
          </a:solidFill>
          <a:ln/>
        </p:spPr>
      </p:sp>
      <p:sp>
        <p:nvSpPr>
          <p:cNvPr id="21" name="Shape 16"/>
          <p:cNvSpPr/>
          <p:nvPr/>
        </p:nvSpPr>
        <p:spPr>
          <a:xfrm>
            <a:off x="4663440" y="3063240"/>
            <a:ext cx="54864" cy="1508760"/>
          </a:xfrm>
          <a:prstGeom prst="rect">
            <a:avLst/>
          </a:prstGeom>
          <a:solidFill>
            <a:srgbClr val="F59E0B"/>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92040" y="3227832"/>
            <a:ext cx="347472" cy="347472"/>
          </a:xfrm>
          <a:prstGeom prst="rect">
            <a:avLst/>
          </a:prstGeom>
        </p:spPr>
      </p:pic>
      <p:sp>
        <p:nvSpPr>
          <p:cNvPr id="23" name="Text 17"/>
          <p:cNvSpPr/>
          <p:nvPr/>
        </p:nvSpPr>
        <p:spPr>
          <a:xfrm>
            <a:off x="5349240" y="3227832"/>
            <a:ext cx="283464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Lean Week Loan</a:t>
            </a:r>
            <a:endParaRPr lang="en-US" sz="1300" dirty="0"/>
          </a:p>
        </p:txBody>
      </p:sp>
      <p:sp>
        <p:nvSpPr>
          <p:cNvPr id="24" name="Text 18"/>
          <p:cNvSpPr/>
          <p:nvPr/>
        </p:nvSpPr>
        <p:spPr>
          <a:xfrm>
            <a:off x="4892040" y="3611880"/>
            <a:ext cx="3383280" cy="82296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Model predicts a slow week coming? We pre-approve a small 0% interest loan for 7 days. Gets repaid automatically when your next good week starts.</a:t>
            </a:r>
            <a:endParaRPr lang="en-US" sz="950" dirty="0"/>
          </a:p>
        </p:txBody>
      </p:sp>
      <p:sp>
        <p:nvSpPr>
          <p:cNvPr id="25" name="Shape 19"/>
          <p:cNvSpPr/>
          <p:nvPr/>
        </p:nvSpPr>
        <p:spPr>
          <a:xfrm>
            <a:off x="0" y="4892040"/>
            <a:ext cx="9144000" cy="9144"/>
          </a:xfrm>
          <a:prstGeom prst="rect">
            <a:avLst/>
          </a:prstGeom>
          <a:solidFill>
            <a:srgbClr val="E2E8F0"/>
          </a:solidFill>
          <a:ln/>
        </p:spPr>
      </p:sp>
      <p:sp>
        <p:nvSpPr>
          <p:cNvPr id="26" name="Text 20"/>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27" name="Text 21"/>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5CF6"/>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TECHNOLOGY</a:t>
            </a:r>
            <a:endParaRPr lang="en-US" sz="2800" dirty="0"/>
          </a:p>
        </p:txBody>
      </p:sp>
      <p:sp>
        <p:nvSpPr>
          <p:cNvPr id="4" name="Text 2"/>
          <p:cNvSpPr/>
          <p:nvPr/>
        </p:nvSpPr>
        <p:spPr>
          <a:xfrm>
            <a:off x="548640" y="777240"/>
            <a:ext cx="8229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Production-ready architecture designed to scale from day one</a:t>
            </a:r>
            <a:endParaRPr lang="en-US" sz="1200" dirty="0"/>
          </a:p>
        </p:txBody>
      </p:sp>
      <p:sp>
        <p:nvSpPr>
          <p:cNvPr id="5" name="Shape 3"/>
          <p:cNvSpPr/>
          <p:nvPr/>
        </p:nvSpPr>
        <p:spPr>
          <a:xfrm>
            <a:off x="457200" y="1325880"/>
            <a:ext cx="2560320" cy="1508760"/>
          </a:xfrm>
          <a:prstGeom prst="roundRect">
            <a:avLst>
              <a:gd name="adj" fmla="val 7273"/>
            </a:avLst>
          </a:prstGeom>
          <a:solidFill>
            <a:srgbClr val="F1F5F9"/>
          </a:solidFill>
          <a:ln/>
        </p:spPr>
      </p:sp>
      <p:sp>
        <p:nvSpPr>
          <p:cNvPr id="6" name="Shape 4"/>
          <p:cNvSpPr/>
          <p:nvPr/>
        </p:nvSpPr>
        <p:spPr>
          <a:xfrm>
            <a:off x="457200" y="1325880"/>
            <a:ext cx="2560320" cy="45720"/>
          </a:xfrm>
          <a:prstGeom prst="rect">
            <a:avLst/>
          </a:prstGeom>
          <a:solidFill>
            <a:srgbClr val="0EA5E9"/>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4360" y="1508760"/>
            <a:ext cx="347472" cy="347472"/>
          </a:xfrm>
          <a:prstGeom prst="rect">
            <a:avLst/>
          </a:prstGeom>
        </p:spPr>
      </p:pic>
      <p:sp>
        <p:nvSpPr>
          <p:cNvPr id="8" name="Text 5"/>
          <p:cNvSpPr/>
          <p:nvPr/>
        </p:nvSpPr>
        <p:spPr>
          <a:xfrm>
            <a:off x="1051560" y="1508760"/>
            <a:ext cx="17373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Frontend</a:t>
            </a:r>
            <a:endParaRPr lang="en-US" sz="1300" dirty="0"/>
          </a:p>
        </p:txBody>
      </p:sp>
      <p:sp>
        <p:nvSpPr>
          <p:cNvPr id="9" name="Text 6"/>
          <p:cNvSpPr/>
          <p:nvPr/>
        </p:nvSpPr>
        <p:spPr>
          <a:xfrm>
            <a:off x="594360" y="1965960"/>
            <a:ext cx="2286000" cy="73152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React PWA + Tailwind CSS</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Chart.js for visualizations</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Mobile-first responsive</a:t>
            </a:r>
            <a:endParaRPr lang="en-US" sz="1000" dirty="0"/>
          </a:p>
        </p:txBody>
      </p:sp>
      <p:sp>
        <p:nvSpPr>
          <p:cNvPr id="10" name="Shape 7"/>
          <p:cNvSpPr/>
          <p:nvPr/>
        </p:nvSpPr>
        <p:spPr>
          <a:xfrm>
            <a:off x="3291840" y="1325880"/>
            <a:ext cx="2560320" cy="1508760"/>
          </a:xfrm>
          <a:prstGeom prst="roundRect">
            <a:avLst>
              <a:gd name="adj" fmla="val 7273"/>
            </a:avLst>
          </a:prstGeom>
          <a:solidFill>
            <a:srgbClr val="F1F5F9"/>
          </a:solidFill>
          <a:ln/>
        </p:spPr>
      </p:sp>
      <p:sp>
        <p:nvSpPr>
          <p:cNvPr id="11" name="Shape 8"/>
          <p:cNvSpPr/>
          <p:nvPr/>
        </p:nvSpPr>
        <p:spPr>
          <a:xfrm>
            <a:off x="3291840" y="1325880"/>
            <a:ext cx="2560320" cy="45720"/>
          </a:xfrm>
          <a:prstGeom prst="rect">
            <a:avLst/>
          </a:prstGeom>
          <a:solidFill>
            <a:srgbClr val="10B981"/>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9000" y="1508760"/>
            <a:ext cx="347472" cy="347472"/>
          </a:xfrm>
          <a:prstGeom prst="rect">
            <a:avLst/>
          </a:prstGeom>
        </p:spPr>
      </p:pic>
      <p:sp>
        <p:nvSpPr>
          <p:cNvPr id="13" name="Text 9"/>
          <p:cNvSpPr/>
          <p:nvPr/>
        </p:nvSpPr>
        <p:spPr>
          <a:xfrm>
            <a:off x="3886200" y="1508760"/>
            <a:ext cx="17373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Backend</a:t>
            </a:r>
            <a:endParaRPr lang="en-US" sz="1300" dirty="0"/>
          </a:p>
        </p:txBody>
      </p:sp>
      <p:sp>
        <p:nvSpPr>
          <p:cNvPr id="14" name="Text 10"/>
          <p:cNvSpPr/>
          <p:nvPr/>
        </p:nvSpPr>
        <p:spPr>
          <a:xfrm>
            <a:off x="3429000" y="1965960"/>
            <a:ext cx="2286000" cy="73152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Node.js REST API</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Python ML microservice</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OAuth 2.0 auth</a:t>
            </a:r>
            <a:endParaRPr lang="en-US" sz="1000" dirty="0"/>
          </a:p>
        </p:txBody>
      </p:sp>
      <p:sp>
        <p:nvSpPr>
          <p:cNvPr id="15" name="Shape 11"/>
          <p:cNvSpPr/>
          <p:nvPr/>
        </p:nvSpPr>
        <p:spPr>
          <a:xfrm>
            <a:off x="6126480" y="1325880"/>
            <a:ext cx="2560320" cy="1508760"/>
          </a:xfrm>
          <a:prstGeom prst="roundRect">
            <a:avLst>
              <a:gd name="adj" fmla="val 7273"/>
            </a:avLst>
          </a:prstGeom>
          <a:solidFill>
            <a:srgbClr val="F1F5F9"/>
          </a:solidFill>
          <a:ln/>
        </p:spPr>
      </p:sp>
      <p:sp>
        <p:nvSpPr>
          <p:cNvPr id="16" name="Shape 12"/>
          <p:cNvSpPr/>
          <p:nvPr/>
        </p:nvSpPr>
        <p:spPr>
          <a:xfrm>
            <a:off x="6126480" y="1325880"/>
            <a:ext cx="2560320" cy="45720"/>
          </a:xfrm>
          <a:prstGeom prst="rect">
            <a:avLst/>
          </a:prstGeom>
          <a:solidFill>
            <a:srgbClr val="F59E0B"/>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3640" y="1508760"/>
            <a:ext cx="347472" cy="347472"/>
          </a:xfrm>
          <a:prstGeom prst="rect">
            <a:avLst/>
          </a:prstGeom>
        </p:spPr>
      </p:pic>
      <p:sp>
        <p:nvSpPr>
          <p:cNvPr id="18" name="Text 13"/>
          <p:cNvSpPr/>
          <p:nvPr/>
        </p:nvSpPr>
        <p:spPr>
          <a:xfrm>
            <a:off x="6720840" y="1508760"/>
            <a:ext cx="17373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Database</a:t>
            </a:r>
            <a:endParaRPr lang="en-US" sz="1300" dirty="0"/>
          </a:p>
        </p:txBody>
      </p:sp>
      <p:sp>
        <p:nvSpPr>
          <p:cNvPr id="19" name="Text 14"/>
          <p:cNvSpPr/>
          <p:nvPr/>
        </p:nvSpPr>
        <p:spPr>
          <a:xfrm>
            <a:off x="6263640" y="1965960"/>
            <a:ext cx="2286000" cy="73152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MongoDB for user data</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Firebase real-time sync</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Redis caching layer</a:t>
            </a:r>
            <a:endParaRPr lang="en-US" sz="1000" dirty="0"/>
          </a:p>
        </p:txBody>
      </p:sp>
      <p:sp>
        <p:nvSpPr>
          <p:cNvPr id="20" name="Shape 15"/>
          <p:cNvSpPr/>
          <p:nvPr/>
        </p:nvSpPr>
        <p:spPr>
          <a:xfrm>
            <a:off x="457200" y="3063240"/>
            <a:ext cx="2560320" cy="1508760"/>
          </a:xfrm>
          <a:prstGeom prst="roundRect">
            <a:avLst>
              <a:gd name="adj" fmla="val 7273"/>
            </a:avLst>
          </a:prstGeom>
          <a:solidFill>
            <a:srgbClr val="F1F5F9"/>
          </a:solidFill>
          <a:ln/>
        </p:spPr>
      </p:sp>
      <p:sp>
        <p:nvSpPr>
          <p:cNvPr id="21" name="Shape 16"/>
          <p:cNvSpPr/>
          <p:nvPr/>
        </p:nvSpPr>
        <p:spPr>
          <a:xfrm>
            <a:off x="457200" y="3063240"/>
            <a:ext cx="2560320" cy="45720"/>
          </a:xfrm>
          <a:prstGeom prst="rect">
            <a:avLst/>
          </a:prstGeom>
          <a:solidFill>
            <a:srgbClr val="8B5CF6"/>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360" y="3246120"/>
            <a:ext cx="347472" cy="347472"/>
          </a:xfrm>
          <a:prstGeom prst="rect">
            <a:avLst/>
          </a:prstGeom>
        </p:spPr>
      </p:pic>
      <p:sp>
        <p:nvSpPr>
          <p:cNvPr id="23" name="Text 17"/>
          <p:cNvSpPr/>
          <p:nvPr/>
        </p:nvSpPr>
        <p:spPr>
          <a:xfrm>
            <a:off x="1051560" y="3246120"/>
            <a:ext cx="17373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ML / AI</a:t>
            </a:r>
            <a:endParaRPr lang="en-US" sz="1300" dirty="0"/>
          </a:p>
        </p:txBody>
      </p:sp>
      <p:sp>
        <p:nvSpPr>
          <p:cNvPr id="24" name="Text 18"/>
          <p:cNvSpPr/>
          <p:nvPr/>
        </p:nvSpPr>
        <p:spPr>
          <a:xfrm>
            <a:off x="594360" y="3703320"/>
            <a:ext cx="2286000" cy="73152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Income prediction models</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Surge detection engine</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NLP financial chatbot</a:t>
            </a:r>
            <a:endParaRPr lang="en-US" sz="1000" dirty="0"/>
          </a:p>
        </p:txBody>
      </p:sp>
      <p:sp>
        <p:nvSpPr>
          <p:cNvPr id="25" name="Shape 19"/>
          <p:cNvSpPr/>
          <p:nvPr/>
        </p:nvSpPr>
        <p:spPr>
          <a:xfrm>
            <a:off x="3291840" y="3063240"/>
            <a:ext cx="2560320" cy="1508760"/>
          </a:xfrm>
          <a:prstGeom prst="roundRect">
            <a:avLst>
              <a:gd name="adj" fmla="val 7273"/>
            </a:avLst>
          </a:prstGeom>
          <a:solidFill>
            <a:srgbClr val="F1F5F9"/>
          </a:solidFill>
          <a:ln/>
        </p:spPr>
      </p:sp>
      <p:sp>
        <p:nvSpPr>
          <p:cNvPr id="26" name="Shape 20"/>
          <p:cNvSpPr/>
          <p:nvPr/>
        </p:nvSpPr>
        <p:spPr>
          <a:xfrm>
            <a:off x="3291840" y="3063240"/>
            <a:ext cx="2560320" cy="45720"/>
          </a:xfrm>
          <a:prstGeom prst="rect">
            <a:avLst/>
          </a:prstGeom>
          <a:solidFill>
            <a:srgbClr val="F97316"/>
          </a:solidFill>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29000" y="3246120"/>
            <a:ext cx="347472" cy="347472"/>
          </a:xfrm>
          <a:prstGeom prst="rect">
            <a:avLst/>
          </a:prstGeom>
        </p:spPr>
      </p:pic>
      <p:sp>
        <p:nvSpPr>
          <p:cNvPr id="28" name="Text 21"/>
          <p:cNvSpPr/>
          <p:nvPr/>
        </p:nvSpPr>
        <p:spPr>
          <a:xfrm>
            <a:off x="3886200" y="3246120"/>
            <a:ext cx="17373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Integrations</a:t>
            </a:r>
            <a:endParaRPr lang="en-US" sz="1300" dirty="0"/>
          </a:p>
        </p:txBody>
      </p:sp>
      <p:sp>
        <p:nvSpPr>
          <p:cNvPr id="29" name="Text 22"/>
          <p:cNvSpPr/>
          <p:nvPr/>
        </p:nvSpPr>
        <p:spPr>
          <a:xfrm>
            <a:off x="3429000" y="3703320"/>
            <a:ext cx="2286000" cy="73152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UPI &amp; Open Banking</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Account Aggregator India</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Gig platform APIs</a:t>
            </a:r>
            <a:endParaRPr lang="en-US" sz="1000" dirty="0"/>
          </a:p>
        </p:txBody>
      </p:sp>
      <p:sp>
        <p:nvSpPr>
          <p:cNvPr id="30" name="Shape 23"/>
          <p:cNvSpPr/>
          <p:nvPr/>
        </p:nvSpPr>
        <p:spPr>
          <a:xfrm>
            <a:off x="6126480" y="3063240"/>
            <a:ext cx="2560320" cy="1508760"/>
          </a:xfrm>
          <a:prstGeom prst="roundRect">
            <a:avLst>
              <a:gd name="adj" fmla="val 7273"/>
            </a:avLst>
          </a:prstGeom>
          <a:solidFill>
            <a:srgbClr val="F1F5F9"/>
          </a:solidFill>
          <a:ln/>
        </p:spPr>
      </p:sp>
      <p:sp>
        <p:nvSpPr>
          <p:cNvPr id="31" name="Shape 24"/>
          <p:cNvSpPr/>
          <p:nvPr/>
        </p:nvSpPr>
        <p:spPr>
          <a:xfrm>
            <a:off x="6126480" y="3063240"/>
            <a:ext cx="2560320" cy="45720"/>
          </a:xfrm>
          <a:prstGeom prst="rect">
            <a:avLst/>
          </a:prstGeom>
          <a:solidFill>
            <a:srgbClr val="EF4444"/>
          </a:solidFill>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63640" y="3246120"/>
            <a:ext cx="347472" cy="347472"/>
          </a:xfrm>
          <a:prstGeom prst="rect">
            <a:avLst/>
          </a:prstGeom>
        </p:spPr>
      </p:pic>
      <p:sp>
        <p:nvSpPr>
          <p:cNvPr id="33" name="Text 25"/>
          <p:cNvSpPr/>
          <p:nvPr/>
        </p:nvSpPr>
        <p:spPr>
          <a:xfrm>
            <a:off x="6720840" y="3246120"/>
            <a:ext cx="17373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Security</a:t>
            </a:r>
            <a:endParaRPr lang="en-US" sz="1300" dirty="0"/>
          </a:p>
        </p:txBody>
      </p:sp>
      <p:sp>
        <p:nvSpPr>
          <p:cNvPr id="34" name="Text 26"/>
          <p:cNvSpPr/>
          <p:nvPr/>
        </p:nvSpPr>
        <p:spPr>
          <a:xfrm>
            <a:off x="6263640" y="3703320"/>
            <a:ext cx="2286000" cy="731520"/>
          </a:xfrm>
          <a:prstGeom prst="rect">
            <a:avLst/>
          </a:prstGeom>
          <a:noFill/>
          <a:ln/>
        </p:spPr>
        <p:txBody>
          <a:bodyPr wrap="square" lIns="0" tIns="0" rIns="0" bIns="0" rtlCol="0" anchor="ctr"/>
          <a:lstStyle/>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AES-256 encryption</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RBI &amp; DPDPA compliant</a:t>
            </a:r>
            <a:endParaRPr lang="en-US" sz="1000" dirty="0"/>
          </a:p>
          <a:p>
            <a:pPr indent="0" marL="0">
              <a:lnSpc>
                <a:spcPts val="1500"/>
              </a:lnSpc>
              <a:buNone/>
            </a:pPr>
            <a:r>
              <a:rPr lang="en-US" sz="1000" dirty="0">
                <a:solidFill>
                  <a:srgbClr val="334155"/>
                </a:solidFill>
                <a:latin typeface="Calibri" pitchFamily="34" charset="0"/>
                <a:ea typeface="Calibri" pitchFamily="34" charset="-122"/>
                <a:cs typeface="Calibri" pitchFamily="34" charset="-120"/>
              </a:rPr>
              <a:t>Biometric auth</a:t>
            </a:r>
            <a:endParaRPr lang="en-US" sz="1000" dirty="0"/>
          </a:p>
        </p:txBody>
      </p:sp>
      <p:sp>
        <p:nvSpPr>
          <p:cNvPr id="35" name="Shape 27"/>
          <p:cNvSpPr/>
          <p:nvPr/>
        </p:nvSpPr>
        <p:spPr>
          <a:xfrm>
            <a:off x="0" y="4892040"/>
            <a:ext cx="9144000" cy="9144"/>
          </a:xfrm>
          <a:prstGeom prst="rect">
            <a:avLst/>
          </a:prstGeom>
          <a:solidFill>
            <a:srgbClr val="E2E8F0"/>
          </a:solidFill>
          <a:ln/>
        </p:spPr>
      </p:sp>
      <p:sp>
        <p:nvSpPr>
          <p:cNvPr id="36" name="Text 28"/>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37" name="Text 29"/>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MARKET &amp; IMPACT</a:t>
            </a:r>
            <a:endParaRPr lang="en-US" sz="2800" dirty="0"/>
          </a:p>
        </p:txBody>
      </p:sp>
      <p:sp>
        <p:nvSpPr>
          <p:cNvPr id="4" name="Text 2"/>
          <p:cNvSpPr/>
          <p:nvPr/>
        </p:nvSpPr>
        <p:spPr>
          <a:xfrm>
            <a:off x="548640" y="1005840"/>
            <a:ext cx="3931920" cy="3291840"/>
          </a:xfrm>
          <a:prstGeom prst="rect">
            <a:avLst/>
          </a:prstGeom>
          <a:noFill/>
          <a:ln/>
        </p:spPr>
        <p:txBody>
          <a:bodyPr wrap="square" rtlCol="0" anchor="t"/>
          <a:lstStyle/>
          <a:p>
            <a:pPr indent="0" marL="0">
              <a:lnSpc>
                <a:spcPts val="2000"/>
              </a:lnSpc>
              <a:buNone/>
            </a:pPr>
            <a:r>
              <a:rPr lang="en-US" sz="1300" b="1" dirty="0">
                <a:solidFill>
                  <a:srgbClr val="0F172A"/>
                </a:solidFill>
                <a:latin typeface="Calibri" pitchFamily="34" charset="0"/>
                <a:ea typeface="Calibri" pitchFamily="34" charset="-122"/>
                <a:cs typeface="Calibri" pitchFamily="34" charset="-120"/>
              </a:rPr>
              <a:t>The opportunity is huge.</a:t>
            </a:r>
            <a:endParaRPr lang="en-US" sz="1300" dirty="0"/>
          </a:p>
          <a:p>
            <a:pPr indent="0" marL="0">
              <a:buNone/>
            </a:pPr>
            <a:endParaRPr lang="en-US" sz="1300" dirty="0"/>
          </a:p>
          <a:p>
            <a:pPr indent="0" marL="0">
              <a:lnSpc>
                <a:spcPts val="1800"/>
              </a:lnSpc>
              <a:buNone/>
            </a:pPr>
            <a:r>
              <a:rPr lang="en-US" sz="1100" dirty="0">
                <a:solidFill>
                  <a:srgbClr val="334155"/>
                </a:solidFill>
                <a:latin typeface="Calibri" pitchFamily="34" charset="0"/>
                <a:ea typeface="Calibri" pitchFamily="34" charset="-122"/>
                <a:cs typeface="Calibri" pitchFamily="34" charset="-120"/>
              </a:rPr>
              <a:t>India's gig economy is worth around 25,000 crore rupees and growing at 17% per year. Worldwide, the gig market will cross $455 billion by 2028.</a:t>
            </a:r>
            <a:endParaRPr lang="en-US" sz="1300" dirty="0"/>
          </a:p>
          <a:p>
            <a:pPr indent="0" marL="0">
              <a:buNone/>
            </a:pPr>
            <a:endParaRPr lang="en-US" sz="1300" dirty="0"/>
          </a:p>
          <a:p>
            <a:pPr indent="0" marL="0">
              <a:lnSpc>
                <a:spcPts val="1800"/>
              </a:lnSpc>
              <a:buNone/>
            </a:pPr>
            <a:r>
              <a:rPr lang="en-US" sz="1100" dirty="0">
                <a:solidFill>
                  <a:srgbClr val="334155"/>
                </a:solidFill>
                <a:latin typeface="Calibri" pitchFamily="34" charset="0"/>
                <a:ea typeface="Calibri" pitchFamily="34" charset="-122"/>
                <a:cs typeface="Calibri" pitchFamily="34" charset="-120"/>
              </a:rPr>
              <a:t>But for us, this isn't just about numbers on a chart. We're talking about delivery partners who can't get a loan, freelancers who can't build savings, and daily wage workers who are one bad month away from real trouble.</a:t>
            </a:r>
            <a:endParaRPr lang="en-US" sz="1300" dirty="0"/>
          </a:p>
          <a:p>
            <a:pPr indent="0" marL="0">
              <a:buNone/>
            </a:pPr>
            <a:endParaRPr lang="en-US" sz="1300" dirty="0"/>
          </a:p>
          <a:p>
            <a:pPr indent="0" marL="0">
              <a:lnSpc>
                <a:spcPts val="1800"/>
              </a:lnSpc>
              <a:buNone/>
            </a:pPr>
            <a:r>
              <a:rPr lang="en-US" sz="1100" dirty="0">
                <a:solidFill>
                  <a:srgbClr val="334155"/>
                </a:solidFill>
                <a:latin typeface="Calibri" pitchFamily="34" charset="0"/>
                <a:ea typeface="Calibri" pitchFamily="34" charset="-122"/>
                <a:cs typeface="Calibri" pitchFamily="34" charset="-120"/>
              </a:rPr>
              <a:t>Even if we help a small fraction of them save 60% more and access fair credit, that changes millions of lives.</a:t>
            </a:r>
            <a:endParaRPr lang="en-US" sz="1300" dirty="0"/>
          </a:p>
        </p:txBody>
      </p:sp>
      <p:sp>
        <p:nvSpPr>
          <p:cNvPr id="5" name="Shape 3"/>
          <p:cNvSpPr/>
          <p:nvPr/>
        </p:nvSpPr>
        <p:spPr>
          <a:xfrm>
            <a:off x="4937760" y="1005840"/>
            <a:ext cx="1828800" cy="1463040"/>
          </a:xfrm>
          <a:prstGeom prst="roundRect">
            <a:avLst>
              <a:gd name="adj" fmla="val 7500"/>
            </a:avLst>
          </a:prstGeom>
          <a:solidFill>
            <a:srgbClr val="F1F5F9"/>
          </a:solidFill>
          <a:ln/>
        </p:spPr>
      </p:sp>
      <p:sp>
        <p:nvSpPr>
          <p:cNvPr id="6" name="Shape 4"/>
          <p:cNvSpPr/>
          <p:nvPr/>
        </p:nvSpPr>
        <p:spPr>
          <a:xfrm>
            <a:off x="4937760" y="1005840"/>
            <a:ext cx="1828800" cy="45720"/>
          </a:xfrm>
          <a:prstGeom prst="rect">
            <a:avLst/>
          </a:prstGeom>
          <a:solidFill>
            <a:srgbClr val="0EA5E9"/>
          </a:solidFill>
          <a:ln/>
        </p:spPr>
      </p:sp>
      <p:sp>
        <p:nvSpPr>
          <p:cNvPr id="7" name="Text 5"/>
          <p:cNvSpPr/>
          <p:nvPr/>
        </p:nvSpPr>
        <p:spPr>
          <a:xfrm>
            <a:off x="5074920" y="1188720"/>
            <a:ext cx="1554480" cy="457200"/>
          </a:xfrm>
          <a:prstGeom prst="rect">
            <a:avLst/>
          </a:prstGeom>
          <a:noFill/>
          <a:ln/>
        </p:spPr>
        <p:txBody>
          <a:bodyPr wrap="square" lIns="0" tIns="0" rIns="0" bIns="0" rtlCol="0" anchor="ctr"/>
          <a:lstStyle/>
          <a:p>
            <a:pPr indent="0" marL="0">
              <a:buNone/>
            </a:pPr>
            <a:r>
              <a:rPr lang="en-US" sz="2400" b="1" dirty="0">
                <a:solidFill>
                  <a:srgbClr val="0EA5E9"/>
                </a:solidFill>
                <a:latin typeface="Calibri" pitchFamily="34" charset="0"/>
                <a:ea typeface="Calibri" pitchFamily="34" charset="-122"/>
                <a:cs typeface="Calibri" pitchFamily="34" charset="-120"/>
              </a:rPr>
              <a:t>₹25K Cr</a:t>
            </a:r>
            <a:endParaRPr lang="en-US" sz="2400" dirty="0"/>
          </a:p>
        </p:txBody>
      </p:sp>
      <p:sp>
        <p:nvSpPr>
          <p:cNvPr id="8" name="Text 6"/>
          <p:cNvSpPr/>
          <p:nvPr/>
        </p:nvSpPr>
        <p:spPr>
          <a:xfrm>
            <a:off x="5074920" y="1783080"/>
            <a:ext cx="1554480" cy="50292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Addressable market</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in India alone</a:t>
            </a:r>
            <a:endParaRPr lang="en-US" sz="950" dirty="0"/>
          </a:p>
        </p:txBody>
      </p:sp>
      <p:sp>
        <p:nvSpPr>
          <p:cNvPr id="9" name="Shape 7"/>
          <p:cNvSpPr/>
          <p:nvPr/>
        </p:nvSpPr>
        <p:spPr>
          <a:xfrm>
            <a:off x="6903720" y="1005840"/>
            <a:ext cx="1828800" cy="1463040"/>
          </a:xfrm>
          <a:prstGeom prst="roundRect">
            <a:avLst>
              <a:gd name="adj" fmla="val 7500"/>
            </a:avLst>
          </a:prstGeom>
          <a:solidFill>
            <a:srgbClr val="F1F5F9"/>
          </a:solidFill>
          <a:ln/>
        </p:spPr>
      </p:sp>
      <p:sp>
        <p:nvSpPr>
          <p:cNvPr id="10" name="Shape 8"/>
          <p:cNvSpPr/>
          <p:nvPr/>
        </p:nvSpPr>
        <p:spPr>
          <a:xfrm>
            <a:off x="6903720" y="1005840"/>
            <a:ext cx="1828800" cy="45720"/>
          </a:xfrm>
          <a:prstGeom prst="rect">
            <a:avLst/>
          </a:prstGeom>
          <a:solidFill>
            <a:srgbClr val="10B981"/>
          </a:solidFill>
          <a:ln/>
        </p:spPr>
      </p:sp>
      <p:sp>
        <p:nvSpPr>
          <p:cNvPr id="11" name="Text 9"/>
          <p:cNvSpPr/>
          <p:nvPr/>
        </p:nvSpPr>
        <p:spPr>
          <a:xfrm>
            <a:off x="7040880" y="1188720"/>
            <a:ext cx="1554480" cy="457200"/>
          </a:xfrm>
          <a:prstGeom prst="rect">
            <a:avLst/>
          </a:prstGeom>
          <a:noFill/>
          <a:ln/>
        </p:spPr>
        <p:txBody>
          <a:bodyPr wrap="square" lIns="0" tIns="0" rIns="0" bIns="0" rtlCol="0" anchor="ctr"/>
          <a:lstStyle/>
          <a:p>
            <a:pPr indent="0" marL="0">
              <a:buNone/>
            </a:pPr>
            <a:r>
              <a:rPr lang="en-US" sz="2400" b="1" dirty="0">
                <a:solidFill>
                  <a:srgbClr val="10B981"/>
                </a:solidFill>
                <a:latin typeface="Calibri" pitchFamily="34" charset="0"/>
                <a:ea typeface="Calibri" pitchFamily="34" charset="-122"/>
                <a:cs typeface="Calibri" pitchFamily="34" charset="-120"/>
              </a:rPr>
              <a:t>15M+</a:t>
            </a:r>
            <a:endParaRPr lang="en-US" sz="2400" dirty="0"/>
          </a:p>
        </p:txBody>
      </p:sp>
      <p:sp>
        <p:nvSpPr>
          <p:cNvPr id="12" name="Text 10"/>
          <p:cNvSpPr/>
          <p:nvPr/>
        </p:nvSpPr>
        <p:spPr>
          <a:xfrm>
            <a:off x="7040880" y="1783080"/>
            <a:ext cx="1554480" cy="50292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Gig workers in India</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(23.5M by 2030)</a:t>
            </a:r>
            <a:endParaRPr lang="en-US" sz="950" dirty="0"/>
          </a:p>
        </p:txBody>
      </p:sp>
      <p:sp>
        <p:nvSpPr>
          <p:cNvPr id="13" name="Shape 11"/>
          <p:cNvSpPr/>
          <p:nvPr/>
        </p:nvSpPr>
        <p:spPr>
          <a:xfrm>
            <a:off x="4937760" y="2743200"/>
            <a:ext cx="1828800" cy="1463040"/>
          </a:xfrm>
          <a:prstGeom prst="roundRect">
            <a:avLst>
              <a:gd name="adj" fmla="val 7500"/>
            </a:avLst>
          </a:prstGeom>
          <a:solidFill>
            <a:srgbClr val="F1F5F9"/>
          </a:solidFill>
          <a:ln/>
        </p:spPr>
      </p:sp>
      <p:sp>
        <p:nvSpPr>
          <p:cNvPr id="14" name="Shape 12"/>
          <p:cNvSpPr/>
          <p:nvPr/>
        </p:nvSpPr>
        <p:spPr>
          <a:xfrm>
            <a:off x="4937760" y="2743200"/>
            <a:ext cx="1828800" cy="45720"/>
          </a:xfrm>
          <a:prstGeom prst="rect">
            <a:avLst/>
          </a:prstGeom>
          <a:solidFill>
            <a:srgbClr val="F59E0B"/>
          </a:solidFill>
          <a:ln/>
        </p:spPr>
      </p:sp>
      <p:sp>
        <p:nvSpPr>
          <p:cNvPr id="15" name="Text 13"/>
          <p:cNvSpPr/>
          <p:nvPr/>
        </p:nvSpPr>
        <p:spPr>
          <a:xfrm>
            <a:off x="5074920" y="2926080"/>
            <a:ext cx="1554480" cy="457200"/>
          </a:xfrm>
          <a:prstGeom prst="rect">
            <a:avLst/>
          </a:prstGeom>
          <a:noFill/>
          <a:ln/>
        </p:spPr>
        <p:txBody>
          <a:bodyPr wrap="square" lIns="0" tIns="0" rIns="0" bIns="0" rtlCol="0" anchor="ctr"/>
          <a:lstStyle/>
          <a:p>
            <a:pPr indent="0" marL="0">
              <a:buNone/>
            </a:pPr>
            <a:r>
              <a:rPr lang="en-US" sz="2400" b="1" dirty="0">
                <a:solidFill>
                  <a:srgbClr val="F59E0B"/>
                </a:solidFill>
                <a:latin typeface="Calibri" pitchFamily="34" charset="0"/>
                <a:ea typeface="Calibri" pitchFamily="34" charset="-122"/>
                <a:cs typeface="Calibri" pitchFamily="34" charset="-120"/>
              </a:rPr>
              <a:t>60%</a:t>
            </a:r>
            <a:endParaRPr lang="en-US" sz="2400" dirty="0"/>
          </a:p>
        </p:txBody>
      </p:sp>
      <p:sp>
        <p:nvSpPr>
          <p:cNvPr id="16" name="Text 14"/>
          <p:cNvSpPr/>
          <p:nvPr/>
        </p:nvSpPr>
        <p:spPr>
          <a:xfrm>
            <a:off x="5074920" y="3520440"/>
            <a:ext cx="1554480" cy="50292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Target improvement</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in user savings</a:t>
            </a:r>
            <a:endParaRPr lang="en-US" sz="950" dirty="0"/>
          </a:p>
        </p:txBody>
      </p:sp>
      <p:sp>
        <p:nvSpPr>
          <p:cNvPr id="17" name="Shape 15"/>
          <p:cNvSpPr/>
          <p:nvPr/>
        </p:nvSpPr>
        <p:spPr>
          <a:xfrm>
            <a:off x="6903720" y="2743200"/>
            <a:ext cx="1828800" cy="1463040"/>
          </a:xfrm>
          <a:prstGeom prst="roundRect">
            <a:avLst>
              <a:gd name="adj" fmla="val 7500"/>
            </a:avLst>
          </a:prstGeom>
          <a:solidFill>
            <a:srgbClr val="F1F5F9"/>
          </a:solidFill>
          <a:ln/>
        </p:spPr>
      </p:sp>
      <p:sp>
        <p:nvSpPr>
          <p:cNvPr id="18" name="Shape 16"/>
          <p:cNvSpPr/>
          <p:nvPr/>
        </p:nvSpPr>
        <p:spPr>
          <a:xfrm>
            <a:off x="6903720" y="2743200"/>
            <a:ext cx="1828800" cy="45720"/>
          </a:xfrm>
          <a:prstGeom prst="rect">
            <a:avLst/>
          </a:prstGeom>
          <a:solidFill>
            <a:srgbClr val="8B5CF6"/>
          </a:solidFill>
          <a:ln/>
        </p:spPr>
      </p:sp>
      <p:sp>
        <p:nvSpPr>
          <p:cNvPr id="19" name="Text 17"/>
          <p:cNvSpPr/>
          <p:nvPr/>
        </p:nvSpPr>
        <p:spPr>
          <a:xfrm>
            <a:off x="7040880" y="2926080"/>
            <a:ext cx="1554480" cy="457200"/>
          </a:xfrm>
          <a:prstGeom prst="rect">
            <a:avLst/>
          </a:prstGeom>
          <a:noFill/>
          <a:ln/>
        </p:spPr>
        <p:txBody>
          <a:bodyPr wrap="square" lIns="0" tIns="0" rIns="0" bIns="0" rtlCol="0" anchor="ctr"/>
          <a:lstStyle/>
          <a:p>
            <a:pPr indent="0" marL="0">
              <a:buNone/>
            </a:pPr>
            <a:r>
              <a:rPr lang="en-US" sz="2400" b="1" dirty="0">
                <a:solidFill>
                  <a:srgbClr val="8B5CF6"/>
                </a:solidFill>
                <a:latin typeface="Calibri" pitchFamily="34" charset="0"/>
                <a:ea typeface="Calibri" pitchFamily="34" charset="-122"/>
                <a:cs typeface="Calibri" pitchFamily="34" charset="-120"/>
              </a:rPr>
              <a:t>3x</a:t>
            </a:r>
            <a:endParaRPr lang="en-US" sz="2400" dirty="0"/>
          </a:p>
        </p:txBody>
      </p:sp>
      <p:sp>
        <p:nvSpPr>
          <p:cNvPr id="20" name="Text 18"/>
          <p:cNvSpPr/>
          <p:nvPr/>
        </p:nvSpPr>
        <p:spPr>
          <a:xfrm>
            <a:off x="7040880" y="3520440"/>
            <a:ext cx="1554480" cy="502920"/>
          </a:xfrm>
          <a:prstGeom prst="rect">
            <a:avLst/>
          </a:prstGeom>
          <a:noFill/>
          <a:ln/>
        </p:spPr>
        <p:txBody>
          <a:bodyPr wrap="square" lIns="0" tIns="0" rIns="0" bIns="0" rtlCol="0" anchor="ctr"/>
          <a:lstStyle/>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Faster emergency</a:t>
            </a:r>
            <a:endParaRPr lang="en-US" sz="950" dirty="0"/>
          </a:p>
          <a:p>
            <a:pPr indent="0" marL="0">
              <a:lnSpc>
                <a:spcPts val="1400"/>
              </a:lnSpc>
              <a:buNone/>
            </a:pPr>
            <a:r>
              <a:rPr lang="en-US" sz="950" dirty="0">
                <a:solidFill>
                  <a:srgbClr val="64748B"/>
                </a:solidFill>
                <a:latin typeface="Calibri" pitchFamily="34" charset="0"/>
                <a:ea typeface="Calibri" pitchFamily="34" charset="-122"/>
                <a:cs typeface="Calibri" pitchFamily="34" charset="-120"/>
              </a:rPr>
              <a:t>fund building</a:t>
            </a:r>
            <a:endParaRPr lang="en-US" sz="950" dirty="0"/>
          </a:p>
        </p:txBody>
      </p:sp>
      <p:sp>
        <p:nvSpPr>
          <p:cNvPr id="21" name="Shape 19"/>
          <p:cNvSpPr/>
          <p:nvPr/>
        </p:nvSpPr>
        <p:spPr>
          <a:xfrm>
            <a:off x="0" y="4892040"/>
            <a:ext cx="9144000" cy="9144"/>
          </a:xfrm>
          <a:prstGeom prst="rect">
            <a:avLst/>
          </a:prstGeom>
          <a:solidFill>
            <a:srgbClr val="E2E8F0"/>
          </a:solidFill>
          <a:ln/>
        </p:spPr>
      </p:sp>
      <p:sp>
        <p:nvSpPr>
          <p:cNvPr id="22" name="Text 20"/>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23" name="Text 21"/>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316"/>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BUSINESS MODEL</a:t>
            </a:r>
            <a:endParaRPr lang="en-US" sz="2800" dirty="0"/>
          </a:p>
        </p:txBody>
      </p:sp>
      <p:sp>
        <p:nvSpPr>
          <p:cNvPr id="4" name="Text 2"/>
          <p:cNvSpPr/>
          <p:nvPr/>
        </p:nvSpPr>
        <p:spPr>
          <a:xfrm>
            <a:off x="548640" y="777240"/>
            <a:ext cx="8229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Multiple revenue streams that don't depend on a single source</a:t>
            </a:r>
            <a:endParaRPr lang="en-US" sz="1200" dirty="0"/>
          </a:p>
        </p:txBody>
      </p:sp>
      <p:sp>
        <p:nvSpPr>
          <p:cNvPr id="5" name="Shape 3"/>
          <p:cNvSpPr/>
          <p:nvPr/>
        </p:nvSpPr>
        <p:spPr>
          <a:xfrm>
            <a:off x="548640" y="1280160"/>
            <a:ext cx="8046720" cy="548640"/>
          </a:xfrm>
          <a:prstGeom prst="roundRect">
            <a:avLst>
              <a:gd name="adj" fmla="val 16667"/>
            </a:avLst>
          </a:prstGeom>
          <a:solidFill>
            <a:srgbClr val="F1F5F9"/>
          </a:solidFill>
          <a:ln/>
        </p:spPr>
      </p:sp>
      <p:sp>
        <p:nvSpPr>
          <p:cNvPr id="6" name="Shape 4"/>
          <p:cNvSpPr/>
          <p:nvPr/>
        </p:nvSpPr>
        <p:spPr>
          <a:xfrm>
            <a:off x="548640" y="1280160"/>
            <a:ext cx="54864" cy="548640"/>
          </a:xfrm>
          <a:prstGeom prst="rect">
            <a:avLst/>
          </a:prstGeom>
          <a:solidFill>
            <a:srgbClr val="F59E0B"/>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7240" y="1417320"/>
            <a:ext cx="256032" cy="256032"/>
          </a:xfrm>
          <a:prstGeom prst="rect">
            <a:avLst/>
          </a:prstGeom>
        </p:spPr>
      </p:pic>
      <p:sp>
        <p:nvSpPr>
          <p:cNvPr id="8" name="Text 5"/>
          <p:cNvSpPr/>
          <p:nvPr/>
        </p:nvSpPr>
        <p:spPr>
          <a:xfrm>
            <a:off x="1188720" y="132588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Freemium</a:t>
            </a:r>
            <a:endParaRPr lang="en-US" sz="1100" dirty="0"/>
          </a:p>
        </p:txBody>
      </p:sp>
      <p:sp>
        <p:nvSpPr>
          <p:cNvPr id="9" name="Text 6"/>
          <p:cNvSpPr/>
          <p:nvPr/>
        </p:nvSpPr>
        <p:spPr>
          <a:xfrm>
            <a:off x="2926080" y="1325880"/>
            <a:ext cx="420624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Basic tools free. Premium AI coaching and analytics at ₹99/month.</a:t>
            </a:r>
            <a:endParaRPr lang="en-US" sz="1000" dirty="0"/>
          </a:p>
        </p:txBody>
      </p:sp>
      <p:sp>
        <p:nvSpPr>
          <p:cNvPr id="10" name="Text 7"/>
          <p:cNvSpPr/>
          <p:nvPr/>
        </p:nvSpPr>
        <p:spPr>
          <a:xfrm>
            <a:off x="7315200" y="1325880"/>
            <a:ext cx="1097280" cy="45720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₹99/mo</a:t>
            </a:r>
            <a:endParaRPr lang="en-US" sz="1100" dirty="0"/>
          </a:p>
        </p:txBody>
      </p:sp>
      <p:sp>
        <p:nvSpPr>
          <p:cNvPr id="11" name="Shape 8"/>
          <p:cNvSpPr/>
          <p:nvPr/>
        </p:nvSpPr>
        <p:spPr>
          <a:xfrm>
            <a:off x="548640" y="1965960"/>
            <a:ext cx="8046720" cy="548640"/>
          </a:xfrm>
          <a:prstGeom prst="roundRect">
            <a:avLst>
              <a:gd name="adj" fmla="val 16667"/>
            </a:avLst>
          </a:prstGeom>
          <a:solidFill>
            <a:srgbClr val="F1F5F9"/>
          </a:solidFill>
          <a:ln/>
        </p:spPr>
      </p:sp>
      <p:sp>
        <p:nvSpPr>
          <p:cNvPr id="12" name="Shape 9"/>
          <p:cNvSpPr/>
          <p:nvPr/>
        </p:nvSpPr>
        <p:spPr>
          <a:xfrm>
            <a:off x="548640" y="1965960"/>
            <a:ext cx="54864" cy="548640"/>
          </a:xfrm>
          <a:prstGeom prst="rect">
            <a:avLst/>
          </a:prstGeom>
          <a:solidFill>
            <a:srgbClr val="10B981"/>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240" y="2103120"/>
            <a:ext cx="256032" cy="256032"/>
          </a:xfrm>
          <a:prstGeom prst="rect">
            <a:avLst/>
          </a:prstGeom>
        </p:spPr>
      </p:pic>
      <p:sp>
        <p:nvSpPr>
          <p:cNvPr id="14" name="Text 10"/>
          <p:cNvSpPr/>
          <p:nvPr/>
        </p:nvSpPr>
        <p:spPr>
          <a:xfrm>
            <a:off x="1188720" y="201168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Lending Fee</a:t>
            </a:r>
            <a:endParaRPr lang="en-US" sz="1100" dirty="0"/>
          </a:p>
        </p:txBody>
      </p:sp>
      <p:sp>
        <p:nvSpPr>
          <p:cNvPr id="15" name="Text 11"/>
          <p:cNvSpPr/>
          <p:nvPr/>
        </p:nvSpPr>
        <p:spPr>
          <a:xfrm>
            <a:off x="2926080" y="2011680"/>
            <a:ext cx="420624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2-3% commission on every micro-loan through our NBFC partners.</a:t>
            </a:r>
            <a:endParaRPr lang="en-US" sz="1000" dirty="0"/>
          </a:p>
        </p:txBody>
      </p:sp>
      <p:sp>
        <p:nvSpPr>
          <p:cNvPr id="16" name="Text 12"/>
          <p:cNvSpPr/>
          <p:nvPr/>
        </p:nvSpPr>
        <p:spPr>
          <a:xfrm>
            <a:off x="7315200" y="2011680"/>
            <a:ext cx="1097280" cy="457200"/>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2-3%</a:t>
            </a:r>
            <a:endParaRPr lang="en-US" sz="1100" dirty="0"/>
          </a:p>
        </p:txBody>
      </p:sp>
      <p:sp>
        <p:nvSpPr>
          <p:cNvPr id="17" name="Shape 13"/>
          <p:cNvSpPr/>
          <p:nvPr/>
        </p:nvSpPr>
        <p:spPr>
          <a:xfrm>
            <a:off x="548640" y="2651760"/>
            <a:ext cx="8046720" cy="548640"/>
          </a:xfrm>
          <a:prstGeom prst="roundRect">
            <a:avLst>
              <a:gd name="adj" fmla="val 16667"/>
            </a:avLst>
          </a:prstGeom>
          <a:solidFill>
            <a:srgbClr val="F1F5F9"/>
          </a:solidFill>
          <a:ln/>
        </p:spPr>
      </p:sp>
      <p:sp>
        <p:nvSpPr>
          <p:cNvPr id="18" name="Shape 14"/>
          <p:cNvSpPr/>
          <p:nvPr/>
        </p:nvSpPr>
        <p:spPr>
          <a:xfrm>
            <a:off x="548640" y="2651760"/>
            <a:ext cx="54864" cy="548640"/>
          </a:xfrm>
          <a:prstGeom prst="rect">
            <a:avLst/>
          </a:prstGeom>
          <a:solidFill>
            <a:srgbClr val="0EA5E9"/>
          </a:solidFill>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240" y="2788920"/>
            <a:ext cx="256032" cy="256032"/>
          </a:xfrm>
          <a:prstGeom prst="rect">
            <a:avLst/>
          </a:prstGeom>
        </p:spPr>
      </p:pic>
      <p:sp>
        <p:nvSpPr>
          <p:cNvPr id="20" name="Text 15"/>
          <p:cNvSpPr/>
          <p:nvPr/>
        </p:nvSpPr>
        <p:spPr>
          <a:xfrm>
            <a:off x="1188720" y="269748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B2B Partners</a:t>
            </a:r>
            <a:endParaRPr lang="en-US" sz="1100" dirty="0"/>
          </a:p>
        </p:txBody>
      </p:sp>
      <p:sp>
        <p:nvSpPr>
          <p:cNvPr id="21" name="Text 16"/>
          <p:cNvSpPr/>
          <p:nvPr/>
        </p:nvSpPr>
        <p:spPr>
          <a:xfrm>
            <a:off x="2926080" y="2697480"/>
            <a:ext cx="420624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Gig platforms pay for GigShield as a worker retention benefit.</a:t>
            </a:r>
            <a:endParaRPr lang="en-US" sz="1000" dirty="0"/>
          </a:p>
        </p:txBody>
      </p:sp>
      <p:sp>
        <p:nvSpPr>
          <p:cNvPr id="22" name="Text 17"/>
          <p:cNvSpPr/>
          <p:nvPr/>
        </p:nvSpPr>
        <p:spPr>
          <a:xfrm>
            <a:off x="7315200" y="2697480"/>
            <a:ext cx="1097280" cy="457200"/>
          </a:xfrm>
          <a:prstGeom prst="rect">
            <a:avLst/>
          </a:prstGeom>
          <a:noFill/>
          <a:ln/>
        </p:spPr>
        <p:txBody>
          <a:bodyPr wrap="square" lIns="0" tIns="0" rIns="0" bIns="0" rtlCol="0" anchor="ctr"/>
          <a:lstStyle/>
          <a:p>
            <a:pPr algn="ctr" indent="0" marL="0">
              <a:buNone/>
            </a:pPr>
            <a:r>
              <a:rPr lang="en-US" sz="1100" b="1" dirty="0">
                <a:solidFill>
                  <a:srgbClr val="0EA5E9"/>
                </a:solidFill>
                <a:latin typeface="Calibri" pitchFamily="34" charset="0"/>
                <a:ea typeface="Calibri" pitchFamily="34" charset="-122"/>
                <a:cs typeface="Calibri" pitchFamily="34" charset="-120"/>
              </a:rPr>
              <a:t>Per user</a:t>
            </a:r>
            <a:endParaRPr lang="en-US" sz="1100" dirty="0"/>
          </a:p>
        </p:txBody>
      </p:sp>
      <p:sp>
        <p:nvSpPr>
          <p:cNvPr id="23" name="Shape 18"/>
          <p:cNvSpPr/>
          <p:nvPr/>
        </p:nvSpPr>
        <p:spPr>
          <a:xfrm>
            <a:off x="548640" y="3337560"/>
            <a:ext cx="8046720" cy="548640"/>
          </a:xfrm>
          <a:prstGeom prst="roundRect">
            <a:avLst>
              <a:gd name="adj" fmla="val 16667"/>
            </a:avLst>
          </a:prstGeom>
          <a:solidFill>
            <a:srgbClr val="F1F5F9"/>
          </a:solidFill>
          <a:ln/>
        </p:spPr>
      </p:sp>
      <p:sp>
        <p:nvSpPr>
          <p:cNvPr id="24" name="Shape 19"/>
          <p:cNvSpPr/>
          <p:nvPr/>
        </p:nvSpPr>
        <p:spPr>
          <a:xfrm>
            <a:off x="548640" y="3337560"/>
            <a:ext cx="54864" cy="548640"/>
          </a:xfrm>
          <a:prstGeom prst="rect">
            <a:avLst/>
          </a:prstGeom>
          <a:solidFill>
            <a:srgbClr val="8B5CF6"/>
          </a:solidFill>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7240" y="3474720"/>
            <a:ext cx="256032" cy="256032"/>
          </a:xfrm>
          <a:prstGeom prst="rect">
            <a:avLst/>
          </a:prstGeom>
        </p:spPr>
      </p:pic>
      <p:sp>
        <p:nvSpPr>
          <p:cNvPr id="26" name="Text 20"/>
          <p:cNvSpPr/>
          <p:nvPr/>
        </p:nvSpPr>
        <p:spPr>
          <a:xfrm>
            <a:off x="1188720" y="338328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Data Insights</a:t>
            </a:r>
            <a:endParaRPr lang="en-US" sz="1100" dirty="0"/>
          </a:p>
        </p:txBody>
      </p:sp>
      <p:sp>
        <p:nvSpPr>
          <p:cNvPr id="27" name="Text 21"/>
          <p:cNvSpPr/>
          <p:nvPr/>
        </p:nvSpPr>
        <p:spPr>
          <a:xfrm>
            <a:off x="2926080" y="3383280"/>
            <a:ext cx="420624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Anonymized financial analytics for banks and NBFCs. DPDPA compliant.</a:t>
            </a:r>
            <a:endParaRPr lang="en-US" sz="1000" dirty="0"/>
          </a:p>
        </p:txBody>
      </p:sp>
      <p:sp>
        <p:nvSpPr>
          <p:cNvPr id="28" name="Text 22"/>
          <p:cNvSpPr/>
          <p:nvPr/>
        </p:nvSpPr>
        <p:spPr>
          <a:xfrm>
            <a:off x="7315200" y="3383280"/>
            <a:ext cx="1097280" cy="457200"/>
          </a:xfrm>
          <a:prstGeom prst="rect">
            <a:avLst/>
          </a:prstGeom>
          <a:noFill/>
          <a:ln/>
        </p:spPr>
        <p:txBody>
          <a:bodyPr wrap="square" lIns="0" tIns="0" rIns="0" bIns="0" rtlCol="0" anchor="ctr"/>
          <a:lstStyle/>
          <a:p>
            <a:pPr algn="ctr" indent="0" marL="0">
              <a:buNone/>
            </a:pPr>
            <a:r>
              <a:rPr lang="en-US" sz="1100" b="1" dirty="0">
                <a:solidFill>
                  <a:srgbClr val="8B5CF6"/>
                </a:solidFill>
                <a:latin typeface="Calibri" pitchFamily="34" charset="0"/>
                <a:ea typeface="Calibri" pitchFamily="34" charset="-122"/>
                <a:cs typeface="Calibri" pitchFamily="34" charset="-120"/>
              </a:rPr>
              <a:t>B2B SaaS</a:t>
            </a:r>
            <a:endParaRPr lang="en-US" sz="1100" dirty="0"/>
          </a:p>
        </p:txBody>
      </p:sp>
      <p:sp>
        <p:nvSpPr>
          <p:cNvPr id="29" name="Shape 23"/>
          <p:cNvSpPr/>
          <p:nvPr/>
        </p:nvSpPr>
        <p:spPr>
          <a:xfrm>
            <a:off x="548640" y="4023360"/>
            <a:ext cx="8046720" cy="548640"/>
          </a:xfrm>
          <a:prstGeom prst="roundRect">
            <a:avLst>
              <a:gd name="adj" fmla="val 16667"/>
            </a:avLst>
          </a:prstGeom>
          <a:solidFill>
            <a:srgbClr val="F1F5F9"/>
          </a:solidFill>
          <a:ln/>
        </p:spPr>
      </p:sp>
      <p:sp>
        <p:nvSpPr>
          <p:cNvPr id="30" name="Shape 24"/>
          <p:cNvSpPr/>
          <p:nvPr/>
        </p:nvSpPr>
        <p:spPr>
          <a:xfrm>
            <a:off x="548640" y="4023360"/>
            <a:ext cx="54864" cy="548640"/>
          </a:xfrm>
          <a:prstGeom prst="rect">
            <a:avLst/>
          </a:prstGeom>
          <a:solidFill>
            <a:srgbClr val="EF4444"/>
          </a:solidFill>
          <a:ln/>
        </p:spPr>
      </p:sp>
      <p:pic>
        <p:nvPicPr>
          <p:cNvPr id="3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7240" y="4160520"/>
            <a:ext cx="256032" cy="256032"/>
          </a:xfrm>
          <a:prstGeom prst="rect">
            <a:avLst/>
          </a:prstGeom>
        </p:spPr>
      </p:pic>
      <p:sp>
        <p:nvSpPr>
          <p:cNvPr id="32" name="Text 25"/>
          <p:cNvSpPr/>
          <p:nvPr/>
        </p:nvSpPr>
        <p:spPr>
          <a:xfrm>
            <a:off x="1188720" y="4069080"/>
            <a:ext cx="1645920" cy="4572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Insurance</a:t>
            </a:r>
            <a:endParaRPr lang="en-US" sz="1100" dirty="0"/>
          </a:p>
        </p:txBody>
      </p:sp>
      <p:sp>
        <p:nvSpPr>
          <p:cNvPr id="33" name="Text 26"/>
          <p:cNvSpPr/>
          <p:nvPr/>
        </p:nvSpPr>
        <p:spPr>
          <a:xfrm>
            <a:off x="2926080" y="4069080"/>
            <a:ext cx="420624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Micro-insurance (health, accident) with referral commission.</a:t>
            </a:r>
            <a:endParaRPr lang="en-US" sz="1000" dirty="0"/>
          </a:p>
        </p:txBody>
      </p:sp>
      <p:sp>
        <p:nvSpPr>
          <p:cNvPr id="34" name="Text 27"/>
          <p:cNvSpPr/>
          <p:nvPr/>
        </p:nvSpPr>
        <p:spPr>
          <a:xfrm>
            <a:off x="7315200" y="4069080"/>
            <a:ext cx="1097280" cy="457200"/>
          </a:xfrm>
          <a:prstGeom prst="rect">
            <a:avLst/>
          </a:prstGeom>
          <a:noFill/>
          <a:ln/>
        </p:spPr>
        <p:txBody>
          <a:bodyPr wrap="square" lIns="0" tIns="0" rIns="0" bIns="0" rtlCol="0" anchor="ctr"/>
          <a:lstStyle/>
          <a:p>
            <a:pPr algn="ctr" indent="0" marL="0">
              <a:buNone/>
            </a:pPr>
            <a:r>
              <a:rPr lang="en-US" sz="1100" b="1" dirty="0">
                <a:solidFill>
                  <a:srgbClr val="EF4444"/>
                </a:solidFill>
                <a:latin typeface="Calibri" pitchFamily="34" charset="0"/>
                <a:ea typeface="Calibri" pitchFamily="34" charset="-122"/>
                <a:cs typeface="Calibri" pitchFamily="34" charset="-120"/>
              </a:rPr>
              <a:t>Referral</a:t>
            </a:r>
            <a:endParaRPr lang="en-US" sz="1100" dirty="0"/>
          </a:p>
        </p:txBody>
      </p:sp>
      <p:sp>
        <p:nvSpPr>
          <p:cNvPr id="35" name="Shape 28"/>
          <p:cNvSpPr/>
          <p:nvPr/>
        </p:nvSpPr>
        <p:spPr>
          <a:xfrm>
            <a:off x="0" y="4892040"/>
            <a:ext cx="9144000" cy="9144"/>
          </a:xfrm>
          <a:prstGeom prst="rect">
            <a:avLst/>
          </a:prstGeom>
          <a:solidFill>
            <a:srgbClr val="E2E8F0"/>
          </a:solidFill>
          <a:ln/>
        </p:spPr>
      </p:sp>
      <p:sp>
        <p:nvSpPr>
          <p:cNvPr id="36" name="Text 29"/>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37" name="Text 30"/>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320040"/>
            <a:ext cx="8229600" cy="50292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ROADMAP</a:t>
            </a:r>
            <a:endParaRPr lang="en-US" sz="2800" dirty="0"/>
          </a:p>
        </p:txBody>
      </p:sp>
      <p:sp>
        <p:nvSpPr>
          <p:cNvPr id="4" name="Text 2"/>
          <p:cNvSpPr/>
          <p:nvPr/>
        </p:nvSpPr>
        <p:spPr>
          <a:xfrm>
            <a:off x="548640" y="777240"/>
            <a:ext cx="822960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From hackathon demo to a product serving millions of workers</a:t>
            </a:r>
            <a:endParaRPr lang="en-US" sz="1200" dirty="0"/>
          </a:p>
        </p:txBody>
      </p:sp>
      <p:sp>
        <p:nvSpPr>
          <p:cNvPr id="5" name="Shape 3"/>
          <p:cNvSpPr/>
          <p:nvPr/>
        </p:nvSpPr>
        <p:spPr>
          <a:xfrm>
            <a:off x="731520" y="2286000"/>
            <a:ext cx="7680960" cy="27432"/>
          </a:xfrm>
          <a:prstGeom prst="rect">
            <a:avLst/>
          </a:prstGeom>
          <a:solidFill>
            <a:srgbClr val="E2E8F0"/>
          </a:solidFill>
          <a:ln/>
        </p:spPr>
      </p:sp>
      <p:sp>
        <p:nvSpPr>
          <p:cNvPr id="6" name="Shape 4"/>
          <p:cNvSpPr/>
          <p:nvPr/>
        </p:nvSpPr>
        <p:spPr>
          <a:xfrm>
            <a:off x="1280160" y="2176272"/>
            <a:ext cx="228600" cy="228600"/>
          </a:xfrm>
          <a:prstGeom prst="ellipse">
            <a:avLst/>
          </a:prstGeom>
          <a:solidFill>
            <a:srgbClr val="0EA5E9"/>
          </a:solidFill>
          <a:ln/>
        </p:spPr>
      </p:sp>
      <p:sp>
        <p:nvSpPr>
          <p:cNvPr id="7" name="Text 5"/>
          <p:cNvSpPr/>
          <p:nvPr/>
        </p:nvSpPr>
        <p:spPr>
          <a:xfrm>
            <a:off x="594360" y="1508760"/>
            <a:ext cx="1645920" cy="228600"/>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594360" y="1737360"/>
            <a:ext cx="164592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0-3 Months</a:t>
            </a:r>
            <a:endParaRPr lang="en-US" sz="800" dirty="0"/>
          </a:p>
        </p:txBody>
      </p:sp>
      <p:sp>
        <p:nvSpPr>
          <p:cNvPr id="9" name="Shape 7"/>
          <p:cNvSpPr/>
          <p:nvPr/>
        </p:nvSpPr>
        <p:spPr>
          <a:xfrm>
            <a:off x="502920" y="2606040"/>
            <a:ext cx="1874520" cy="1828800"/>
          </a:xfrm>
          <a:prstGeom prst="roundRect">
            <a:avLst>
              <a:gd name="adj" fmla="val 6000"/>
            </a:avLst>
          </a:prstGeom>
          <a:solidFill>
            <a:srgbClr val="F1F5F9"/>
          </a:solidFill>
          <a:ln/>
        </p:spPr>
      </p:sp>
      <p:sp>
        <p:nvSpPr>
          <p:cNvPr id="10" name="Shape 8"/>
          <p:cNvSpPr/>
          <p:nvPr/>
        </p:nvSpPr>
        <p:spPr>
          <a:xfrm>
            <a:off x="502920" y="2606040"/>
            <a:ext cx="1874520" cy="45720"/>
          </a:xfrm>
          <a:prstGeom prst="rect">
            <a:avLst/>
          </a:prstGeom>
          <a:solidFill>
            <a:srgbClr val="0EA5E9"/>
          </a:solidFill>
          <a:ln/>
        </p:spPr>
      </p:sp>
      <p:sp>
        <p:nvSpPr>
          <p:cNvPr id="11" name="Text 9"/>
          <p:cNvSpPr/>
          <p:nvPr/>
        </p:nvSpPr>
        <p:spPr>
          <a:xfrm>
            <a:off x="640080" y="2743200"/>
            <a:ext cx="160020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MVP Launch</a:t>
            </a:r>
            <a:endParaRPr lang="en-US" sz="1200" dirty="0"/>
          </a:p>
        </p:txBody>
      </p:sp>
      <p:sp>
        <p:nvSpPr>
          <p:cNvPr id="12" name="Text 10"/>
          <p:cNvSpPr/>
          <p:nvPr/>
        </p:nvSpPr>
        <p:spPr>
          <a:xfrm>
            <a:off x="640080" y="3108960"/>
            <a:ext cx="1600200" cy="118872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Core savings engine</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Income tracking</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UPI integration</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1,000 beta users</a:t>
            </a:r>
            <a:endParaRPr lang="en-US" sz="950" dirty="0"/>
          </a:p>
        </p:txBody>
      </p:sp>
      <p:sp>
        <p:nvSpPr>
          <p:cNvPr id="13" name="Shape 11"/>
          <p:cNvSpPr/>
          <p:nvPr/>
        </p:nvSpPr>
        <p:spPr>
          <a:xfrm>
            <a:off x="3383280" y="2176272"/>
            <a:ext cx="228600" cy="228600"/>
          </a:xfrm>
          <a:prstGeom prst="ellipse">
            <a:avLst/>
          </a:prstGeom>
          <a:solidFill>
            <a:srgbClr val="10B981"/>
          </a:solidFill>
          <a:ln/>
        </p:spPr>
      </p:sp>
      <p:sp>
        <p:nvSpPr>
          <p:cNvPr id="14" name="Text 12"/>
          <p:cNvSpPr/>
          <p:nvPr/>
        </p:nvSpPr>
        <p:spPr>
          <a:xfrm>
            <a:off x="2697480" y="1508760"/>
            <a:ext cx="1645920" cy="228600"/>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PHASE 2</a:t>
            </a:r>
            <a:endParaRPr lang="en-US" sz="900" dirty="0"/>
          </a:p>
        </p:txBody>
      </p:sp>
      <p:sp>
        <p:nvSpPr>
          <p:cNvPr id="15" name="Text 13"/>
          <p:cNvSpPr/>
          <p:nvPr/>
        </p:nvSpPr>
        <p:spPr>
          <a:xfrm>
            <a:off x="2697480" y="1737360"/>
            <a:ext cx="164592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3-6 Months</a:t>
            </a:r>
            <a:endParaRPr lang="en-US" sz="800" dirty="0"/>
          </a:p>
        </p:txBody>
      </p:sp>
      <p:sp>
        <p:nvSpPr>
          <p:cNvPr id="16" name="Shape 14"/>
          <p:cNvSpPr/>
          <p:nvPr/>
        </p:nvSpPr>
        <p:spPr>
          <a:xfrm>
            <a:off x="2606040" y="2606040"/>
            <a:ext cx="1874520" cy="1828800"/>
          </a:xfrm>
          <a:prstGeom prst="roundRect">
            <a:avLst>
              <a:gd name="adj" fmla="val 6000"/>
            </a:avLst>
          </a:prstGeom>
          <a:solidFill>
            <a:srgbClr val="F1F5F9"/>
          </a:solidFill>
          <a:ln/>
        </p:spPr>
      </p:sp>
      <p:sp>
        <p:nvSpPr>
          <p:cNvPr id="17" name="Shape 15"/>
          <p:cNvSpPr/>
          <p:nvPr/>
        </p:nvSpPr>
        <p:spPr>
          <a:xfrm>
            <a:off x="2606040" y="2606040"/>
            <a:ext cx="1874520" cy="45720"/>
          </a:xfrm>
          <a:prstGeom prst="rect">
            <a:avLst/>
          </a:prstGeom>
          <a:solidFill>
            <a:srgbClr val="10B981"/>
          </a:solidFill>
          <a:ln/>
        </p:spPr>
      </p:sp>
      <p:sp>
        <p:nvSpPr>
          <p:cNvPr id="18" name="Text 16"/>
          <p:cNvSpPr/>
          <p:nvPr/>
        </p:nvSpPr>
        <p:spPr>
          <a:xfrm>
            <a:off x="2743200" y="2743200"/>
            <a:ext cx="160020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Credit Engine</a:t>
            </a:r>
            <a:endParaRPr lang="en-US" sz="1200" dirty="0"/>
          </a:p>
        </p:txBody>
      </p:sp>
      <p:sp>
        <p:nvSpPr>
          <p:cNvPr id="19" name="Text 17"/>
          <p:cNvSpPr/>
          <p:nvPr/>
        </p:nvSpPr>
        <p:spPr>
          <a:xfrm>
            <a:off x="2743200" y="3108960"/>
            <a:ext cx="1600200" cy="118872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GigScore goes live</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NBFC partnerships</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Micro-loan pilot</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10,000 users</a:t>
            </a:r>
            <a:endParaRPr lang="en-US" sz="950" dirty="0"/>
          </a:p>
        </p:txBody>
      </p:sp>
      <p:sp>
        <p:nvSpPr>
          <p:cNvPr id="20" name="Shape 18"/>
          <p:cNvSpPr/>
          <p:nvPr/>
        </p:nvSpPr>
        <p:spPr>
          <a:xfrm>
            <a:off x="5486400" y="2176272"/>
            <a:ext cx="228600" cy="228600"/>
          </a:xfrm>
          <a:prstGeom prst="ellipse">
            <a:avLst/>
          </a:prstGeom>
          <a:solidFill>
            <a:srgbClr val="F59E0B"/>
          </a:solidFill>
          <a:ln/>
        </p:spPr>
      </p:sp>
      <p:sp>
        <p:nvSpPr>
          <p:cNvPr id="21" name="Text 19"/>
          <p:cNvSpPr/>
          <p:nvPr/>
        </p:nvSpPr>
        <p:spPr>
          <a:xfrm>
            <a:off x="4800600" y="1508760"/>
            <a:ext cx="1645920" cy="228600"/>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PHASE 3</a:t>
            </a:r>
            <a:endParaRPr lang="en-US" sz="900" dirty="0"/>
          </a:p>
        </p:txBody>
      </p:sp>
      <p:sp>
        <p:nvSpPr>
          <p:cNvPr id="22" name="Text 20"/>
          <p:cNvSpPr/>
          <p:nvPr/>
        </p:nvSpPr>
        <p:spPr>
          <a:xfrm>
            <a:off x="4800600" y="1737360"/>
            <a:ext cx="164592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6-12 Months</a:t>
            </a:r>
            <a:endParaRPr lang="en-US" sz="800" dirty="0"/>
          </a:p>
        </p:txBody>
      </p:sp>
      <p:sp>
        <p:nvSpPr>
          <p:cNvPr id="23" name="Shape 21"/>
          <p:cNvSpPr/>
          <p:nvPr/>
        </p:nvSpPr>
        <p:spPr>
          <a:xfrm>
            <a:off x="4709160" y="2606040"/>
            <a:ext cx="1874520" cy="1828800"/>
          </a:xfrm>
          <a:prstGeom prst="roundRect">
            <a:avLst>
              <a:gd name="adj" fmla="val 6000"/>
            </a:avLst>
          </a:prstGeom>
          <a:solidFill>
            <a:srgbClr val="F1F5F9"/>
          </a:solidFill>
          <a:ln/>
        </p:spPr>
      </p:sp>
      <p:sp>
        <p:nvSpPr>
          <p:cNvPr id="24" name="Shape 22"/>
          <p:cNvSpPr/>
          <p:nvPr/>
        </p:nvSpPr>
        <p:spPr>
          <a:xfrm>
            <a:off x="4709160" y="2606040"/>
            <a:ext cx="1874520" cy="45720"/>
          </a:xfrm>
          <a:prstGeom prst="rect">
            <a:avLst/>
          </a:prstGeom>
          <a:solidFill>
            <a:srgbClr val="F59E0B"/>
          </a:solidFill>
          <a:ln/>
        </p:spPr>
      </p:sp>
      <p:sp>
        <p:nvSpPr>
          <p:cNvPr id="25" name="Text 23"/>
          <p:cNvSpPr/>
          <p:nvPr/>
        </p:nvSpPr>
        <p:spPr>
          <a:xfrm>
            <a:off x="4846320" y="2743200"/>
            <a:ext cx="160020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AI &amp; Scale</a:t>
            </a:r>
            <a:endParaRPr lang="en-US" sz="1200" dirty="0"/>
          </a:p>
        </p:txBody>
      </p:sp>
      <p:sp>
        <p:nvSpPr>
          <p:cNvPr id="26" name="Text 24"/>
          <p:cNvSpPr/>
          <p:nvPr/>
        </p:nvSpPr>
        <p:spPr>
          <a:xfrm>
            <a:off x="4846320" y="3108960"/>
            <a:ext cx="1600200" cy="118872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Full AI coaching</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3+ platform integrations</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Financial literacy</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100,000 users</a:t>
            </a:r>
            <a:endParaRPr lang="en-US" sz="950" dirty="0"/>
          </a:p>
        </p:txBody>
      </p:sp>
      <p:sp>
        <p:nvSpPr>
          <p:cNvPr id="27" name="Shape 25"/>
          <p:cNvSpPr/>
          <p:nvPr/>
        </p:nvSpPr>
        <p:spPr>
          <a:xfrm>
            <a:off x="7589520" y="2176272"/>
            <a:ext cx="228600" cy="228600"/>
          </a:xfrm>
          <a:prstGeom prst="ellipse">
            <a:avLst/>
          </a:prstGeom>
          <a:solidFill>
            <a:srgbClr val="8B5CF6"/>
          </a:solidFill>
          <a:ln/>
        </p:spPr>
      </p:sp>
      <p:sp>
        <p:nvSpPr>
          <p:cNvPr id="28" name="Text 26"/>
          <p:cNvSpPr/>
          <p:nvPr/>
        </p:nvSpPr>
        <p:spPr>
          <a:xfrm>
            <a:off x="6903720" y="1508760"/>
            <a:ext cx="1645920" cy="228600"/>
          </a:xfrm>
          <a:prstGeom prst="rect">
            <a:avLst/>
          </a:prstGeom>
          <a:noFill/>
          <a:ln/>
        </p:spPr>
        <p:txBody>
          <a:bodyPr wrap="square" lIns="0" tIns="0" rIns="0" bIns="0" rtlCol="0" anchor="ctr"/>
          <a:lstStyle/>
          <a:p>
            <a:pPr algn="ctr" indent="0" marL="0">
              <a:buNone/>
            </a:pPr>
            <a:r>
              <a:rPr lang="en-US" sz="900" b="1" dirty="0">
                <a:solidFill>
                  <a:srgbClr val="8B5CF6"/>
                </a:solidFill>
                <a:latin typeface="Calibri" pitchFamily="34" charset="0"/>
                <a:ea typeface="Calibri" pitchFamily="34" charset="-122"/>
                <a:cs typeface="Calibri" pitchFamily="34" charset="-120"/>
              </a:rPr>
              <a:t>PHASE 4</a:t>
            </a:r>
            <a:endParaRPr lang="en-US" sz="900" dirty="0"/>
          </a:p>
        </p:txBody>
      </p:sp>
      <p:sp>
        <p:nvSpPr>
          <p:cNvPr id="29" name="Text 27"/>
          <p:cNvSpPr/>
          <p:nvPr/>
        </p:nvSpPr>
        <p:spPr>
          <a:xfrm>
            <a:off x="6903720" y="1737360"/>
            <a:ext cx="164592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12-24 Months</a:t>
            </a:r>
            <a:endParaRPr lang="en-US" sz="800" dirty="0"/>
          </a:p>
        </p:txBody>
      </p:sp>
      <p:sp>
        <p:nvSpPr>
          <p:cNvPr id="30" name="Shape 28"/>
          <p:cNvSpPr/>
          <p:nvPr/>
        </p:nvSpPr>
        <p:spPr>
          <a:xfrm>
            <a:off x="6812280" y="2606040"/>
            <a:ext cx="1874520" cy="1828800"/>
          </a:xfrm>
          <a:prstGeom prst="roundRect">
            <a:avLst>
              <a:gd name="adj" fmla="val 6000"/>
            </a:avLst>
          </a:prstGeom>
          <a:solidFill>
            <a:srgbClr val="F1F5F9"/>
          </a:solidFill>
          <a:ln/>
        </p:spPr>
      </p:sp>
      <p:sp>
        <p:nvSpPr>
          <p:cNvPr id="31" name="Shape 29"/>
          <p:cNvSpPr/>
          <p:nvPr/>
        </p:nvSpPr>
        <p:spPr>
          <a:xfrm>
            <a:off x="6812280" y="2606040"/>
            <a:ext cx="1874520" cy="45720"/>
          </a:xfrm>
          <a:prstGeom prst="rect">
            <a:avLst/>
          </a:prstGeom>
          <a:solidFill>
            <a:srgbClr val="8B5CF6"/>
          </a:solidFill>
          <a:ln/>
        </p:spPr>
      </p:sp>
      <p:sp>
        <p:nvSpPr>
          <p:cNvPr id="32" name="Text 30"/>
          <p:cNvSpPr/>
          <p:nvPr/>
        </p:nvSpPr>
        <p:spPr>
          <a:xfrm>
            <a:off x="6949440" y="2743200"/>
            <a:ext cx="160020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Expansion</a:t>
            </a:r>
            <a:endParaRPr lang="en-US" sz="1200" dirty="0"/>
          </a:p>
        </p:txBody>
      </p:sp>
      <p:sp>
        <p:nvSpPr>
          <p:cNvPr id="33" name="Text 31"/>
          <p:cNvSpPr/>
          <p:nvPr/>
        </p:nvSpPr>
        <p:spPr>
          <a:xfrm>
            <a:off x="6949440" y="3108960"/>
            <a:ext cx="1600200" cy="1188720"/>
          </a:xfrm>
          <a:prstGeom prst="rect">
            <a:avLst/>
          </a:prstGeom>
          <a:noFill/>
          <a:ln/>
        </p:spPr>
        <p:txBody>
          <a:bodyPr wrap="square" lIns="0" tIns="0" rIns="0" bIns="0" rtlCol="0" anchor="ctr"/>
          <a:lstStyle/>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Multi-language</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Southeast Asia</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Insurance products</a:t>
            </a:r>
            <a:endParaRPr lang="en-US" sz="950" dirty="0"/>
          </a:p>
          <a:p>
            <a:pPr indent="0" marL="0">
              <a:lnSpc>
                <a:spcPts val="1400"/>
              </a:lnSpc>
              <a:buNone/>
            </a:pPr>
            <a:r>
              <a:rPr lang="en-US" sz="950" dirty="0">
                <a:solidFill>
                  <a:srgbClr val="334155"/>
                </a:solidFill>
                <a:latin typeface="Calibri" pitchFamily="34" charset="0"/>
                <a:ea typeface="Calibri" pitchFamily="34" charset="-122"/>
                <a:cs typeface="Calibri" pitchFamily="34" charset="-120"/>
              </a:rPr>
              <a:t>1 million users</a:t>
            </a:r>
            <a:endParaRPr lang="en-US" sz="950" dirty="0"/>
          </a:p>
        </p:txBody>
      </p:sp>
      <p:sp>
        <p:nvSpPr>
          <p:cNvPr id="34" name="Shape 32"/>
          <p:cNvSpPr/>
          <p:nvPr/>
        </p:nvSpPr>
        <p:spPr>
          <a:xfrm>
            <a:off x="0" y="4892040"/>
            <a:ext cx="9144000" cy="9144"/>
          </a:xfrm>
          <a:prstGeom prst="rect">
            <a:avLst/>
          </a:prstGeom>
          <a:solidFill>
            <a:srgbClr val="E2E8F0"/>
          </a:solidFill>
          <a:ln/>
        </p:spPr>
      </p:sp>
      <p:sp>
        <p:nvSpPr>
          <p:cNvPr id="35" name="Text 33"/>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36" name="Text 34"/>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77640" y="822960"/>
            <a:ext cx="731520" cy="731520"/>
          </a:xfrm>
          <a:prstGeom prst="rect">
            <a:avLst/>
          </a:prstGeom>
        </p:spPr>
      </p:pic>
      <p:sp>
        <p:nvSpPr>
          <p:cNvPr id="4" name="Text 1"/>
          <p:cNvSpPr/>
          <p:nvPr/>
        </p:nvSpPr>
        <p:spPr>
          <a:xfrm>
            <a:off x="914400" y="1645920"/>
            <a:ext cx="7315200" cy="640080"/>
          </a:xfrm>
          <a:prstGeom prst="rect">
            <a:avLst/>
          </a:prstGeom>
          <a:noFill/>
          <a:ln/>
        </p:spPr>
        <p:txBody>
          <a:bodyPr wrap="square" rtlCol="0" anchor="ctr"/>
          <a:lstStyle/>
          <a:p>
            <a:pPr algn="ctr" indent="0" marL="0">
              <a:buNone/>
            </a:pPr>
            <a:r>
              <a:rPr lang="en-US" sz="3600" b="1" dirty="0">
                <a:solidFill>
                  <a:srgbClr val="0F172A"/>
                </a:solidFill>
                <a:latin typeface="Calibri" pitchFamily="34" charset="0"/>
                <a:ea typeface="Calibri" pitchFamily="34" charset="-122"/>
                <a:cs typeface="Calibri" pitchFamily="34" charset="-120"/>
              </a:rPr>
              <a:t>Thank You</a:t>
            </a:r>
            <a:endParaRPr lang="en-US" sz="3600" dirty="0"/>
          </a:p>
        </p:txBody>
      </p:sp>
      <p:sp>
        <p:nvSpPr>
          <p:cNvPr id="5" name="Text 2"/>
          <p:cNvSpPr/>
          <p:nvPr/>
        </p:nvSpPr>
        <p:spPr>
          <a:xfrm>
            <a:off x="1371600" y="2286000"/>
            <a:ext cx="6400800" cy="548640"/>
          </a:xfrm>
          <a:prstGeom prst="rect">
            <a:avLst/>
          </a:prstGeom>
          <a:noFill/>
          <a:ln/>
        </p:spPr>
        <p:txBody>
          <a:bodyPr wrap="square" rtlCol="0" anchor="ctr"/>
          <a:lstStyle/>
          <a:p>
            <a:pPr algn="ctr" indent="0" marL="0">
              <a:lnSpc>
                <a:spcPts val="2200"/>
              </a:lnSpc>
              <a:buNone/>
            </a:pPr>
            <a:r>
              <a:rPr lang="en-US" sz="1300" dirty="0">
                <a:solidFill>
                  <a:srgbClr val="64748B"/>
                </a:solidFill>
                <a:latin typeface="Calibri" pitchFamily="34" charset="0"/>
                <a:ea typeface="Calibri" pitchFamily="34" charset="-122"/>
                <a:cs typeface="Calibri" pitchFamily="34" charset="-120"/>
              </a:rPr>
              <a:t>Every gig worker deserves a shot at financial stability.</a:t>
            </a:r>
            <a:endParaRPr lang="en-US" sz="1300" dirty="0"/>
          </a:p>
          <a:p>
            <a:pPr algn="ctr" indent="0" marL="0">
              <a:lnSpc>
                <a:spcPts val="2200"/>
              </a:lnSpc>
              <a:buNone/>
            </a:pPr>
            <a:r>
              <a:rPr lang="en-US" sz="1300" dirty="0">
                <a:solidFill>
                  <a:srgbClr val="64748B"/>
                </a:solidFill>
                <a:latin typeface="Calibri" pitchFamily="34" charset="0"/>
                <a:ea typeface="Calibri" pitchFamily="34" charset="-122"/>
                <a:cs typeface="Calibri" pitchFamily="34" charset="-120"/>
              </a:rPr>
              <a:t>That's what GigShield is here to build.</a:t>
            </a:r>
            <a:endParaRPr lang="en-US" sz="1300" dirty="0"/>
          </a:p>
        </p:txBody>
      </p:sp>
      <p:sp>
        <p:nvSpPr>
          <p:cNvPr id="6" name="Shape 3"/>
          <p:cNvSpPr/>
          <p:nvPr/>
        </p:nvSpPr>
        <p:spPr>
          <a:xfrm>
            <a:off x="3200400" y="3017520"/>
            <a:ext cx="2743200" cy="27432"/>
          </a:xfrm>
          <a:prstGeom prst="rect">
            <a:avLst/>
          </a:prstGeom>
          <a:solidFill>
            <a:srgbClr val="10B981"/>
          </a:solidFill>
          <a:ln/>
        </p:spPr>
      </p:sp>
      <p:sp>
        <p:nvSpPr>
          <p:cNvPr id="7" name="Shape 4"/>
          <p:cNvSpPr/>
          <p:nvPr/>
        </p:nvSpPr>
        <p:spPr>
          <a:xfrm>
            <a:off x="731520" y="3246120"/>
            <a:ext cx="2468880" cy="868680"/>
          </a:xfrm>
          <a:prstGeom prst="roundRect">
            <a:avLst>
              <a:gd name="adj" fmla="val 10526"/>
            </a:avLst>
          </a:prstGeom>
          <a:solidFill>
            <a:srgbClr val="F1F5F9"/>
          </a:solidFill>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680" y="3429000"/>
            <a:ext cx="274320" cy="274320"/>
          </a:xfrm>
          <a:prstGeom prst="rect">
            <a:avLst/>
          </a:prstGeom>
        </p:spPr>
      </p:pic>
      <p:sp>
        <p:nvSpPr>
          <p:cNvPr id="9" name="Text 5"/>
          <p:cNvSpPr/>
          <p:nvPr/>
        </p:nvSpPr>
        <p:spPr>
          <a:xfrm>
            <a:off x="1234440" y="3337560"/>
            <a:ext cx="1737360" cy="27432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Live Demo</a:t>
            </a:r>
            <a:endParaRPr lang="en-US" sz="1000" dirty="0"/>
          </a:p>
        </p:txBody>
      </p:sp>
      <p:sp>
        <p:nvSpPr>
          <p:cNvPr id="10" name="Text 6"/>
          <p:cNvSpPr/>
          <p:nvPr/>
        </p:nvSpPr>
        <p:spPr>
          <a:xfrm>
            <a:off x="1234440" y="3611880"/>
            <a:ext cx="1737360" cy="411480"/>
          </a:xfrm>
          <a:prstGeom prst="rect">
            <a:avLst/>
          </a:prstGeom>
          <a:noFill/>
          <a:ln/>
        </p:spPr>
        <p:txBody>
          <a:bodyPr wrap="square" lIns="0" tIns="0" rIns="0" bIns="0" rtlCol="0" anchor="ctr"/>
          <a:lstStyle/>
          <a:p>
            <a:pPr indent="0" marL="0">
              <a:lnSpc>
                <a:spcPts val="1200"/>
              </a:lnSpc>
              <a:buNone/>
            </a:pPr>
            <a:r>
              <a:rPr lang="en-US" sz="800" dirty="0">
                <a:solidFill>
                  <a:srgbClr val="64748B"/>
                </a:solidFill>
                <a:latin typeface="Calibri" pitchFamily="34" charset="0"/>
                <a:ea typeface="Calibri" pitchFamily="34" charset="-122"/>
                <a:cs typeface="Calibri" pitchFamily="34" charset="-120"/>
              </a:rPr>
              <a:t>abishekkandasamy123-design</a:t>
            </a:r>
            <a:endParaRPr lang="en-US" sz="800" dirty="0"/>
          </a:p>
          <a:p>
            <a:pPr indent="0" marL="0">
              <a:lnSpc>
                <a:spcPts val="1200"/>
              </a:lnSpc>
              <a:buNone/>
            </a:pPr>
            <a:r>
              <a:rPr lang="en-US" sz="800" dirty="0">
                <a:solidFill>
                  <a:srgbClr val="64748B"/>
                </a:solidFill>
                <a:latin typeface="Calibri" pitchFamily="34" charset="0"/>
                <a:ea typeface="Calibri" pitchFamily="34" charset="-122"/>
                <a:cs typeface="Calibri" pitchFamily="34" charset="-120"/>
              </a:rPr>
              <a:t>.github.io/gigshield</a:t>
            </a:r>
            <a:endParaRPr lang="en-US" sz="800" dirty="0"/>
          </a:p>
        </p:txBody>
      </p:sp>
      <p:sp>
        <p:nvSpPr>
          <p:cNvPr id="11" name="Shape 7"/>
          <p:cNvSpPr/>
          <p:nvPr/>
        </p:nvSpPr>
        <p:spPr>
          <a:xfrm>
            <a:off x="3566160" y="3246120"/>
            <a:ext cx="2468880" cy="868680"/>
          </a:xfrm>
          <a:prstGeom prst="roundRect">
            <a:avLst>
              <a:gd name="adj" fmla="val 10526"/>
            </a:avLst>
          </a:prstGeom>
          <a:solidFill>
            <a:srgbClr val="F1F5F9"/>
          </a:solidFill>
          <a:ln/>
        </p:spPr>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03320" y="3429000"/>
            <a:ext cx="274320" cy="274320"/>
          </a:xfrm>
          <a:prstGeom prst="rect">
            <a:avLst/>
          </a:prstGeom>
        </p:spPr>
      </p:pic>
      <p:sp>
        <p:nvSpPr>
          <p:cNvPr id="13" name="Text 8"/>
          <p:cNvSpPr/>
          <p:nvPr/>
        </p:nvSpPr>
        <p:spPr>
          <a:xfrm>
            <a:off x="4069080" y="3337560"/>
            <a:ext cx="1737360" cy="27432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GitHub</a:t>
            </a:r>
            <a:endParaRPr lang="en-US" sz="1000" dirty="0"/>
          </a:p>
        </p:txBody>
      </p:sp>
      <p:sp>
        <p:nvSpPr>
          <p:cNvPr id="14" name="Text 9"/>
          <p:cNvSpPr/>
          <p:nvPr/>
        </p:nvSpPr>
        <p:spPr>
          <a:xfrm>
            <a:off x="4069080" y="3611880"/>
            <a:ext cx="1737360" cy="411480"/>
          </a:xfrm>
          <a:prstGeom prst="rect">
            <a:avLst/>
          </a:prstGeom>
          <a:noFill/>
          <a:ln/>
        </p:spPr>
        <p:txBody>
          <a:bodyPr wrap="square" lIns="0" tIns="0" rIns="0" bIns="0" rtlCol="0" anchor="ctr"/>
          <a:lstStyle/>
          <a:p>
            <a:pPr indent="0" marL="0">
              <a:lnSpc>
                <a:spcPts val="1200"/>
              </a:lnSpc>
              <a:buNone/>
            </a:pPr>
            <a:r>
              <a:rPr lang="en-US" sz="800" dirty="0">
                <a:solidFill>
                  <a:srgbClr val="64748B"/>
                </a:solidFill>
                <a:latin typeface="Calibri" pitchFamily="34" charset="0"/>
                <a:ea typeface="Calibri" pitchFamily="34" charset="-122"/>
                <a:cs typeface="Calibri" pitchFamily="34" charset="-120"/>
              </a:rPr>
              <a:t>github.com/</a:t>
            </a:r>
            <a:endParaRPr lang="en-US" sz="800" dirty="0"/>
          </a:p>
          <a:p>
            <a:pPr indent="0" marL="0">
              <a:lnSpc>
                <a:spcPts val="1200"/>
              </a:lnSpc>
              <a:buNone/>
            </a:pPr>
            <a:r>
              <a:rPr lang="en-US" sz="800" dirty="0">
                <a:solidFill>
                  <a:srgbClr val="64748B"/>
                </a:solidFill>
                <a:latin typeface="Calibri" pitchFamily="34" charset="0"/>
                <a:ea typeface="Calibri" pitchFamily="34" charset="-122"/>
                <a:cs typeface="Calibri" pitchFamily="34" charset="-120"/>
              </a:rPr>
              <a:t>abishekkandasamy123-design</a:t>
            </a:r>
            <a:endParaRPr lang="en-US" sz="800" dirty="0"/>
          </a:p>
        </p:txBody>
      </p:sp>
      <p:sp>
        <p:nvSpPr>
          <p:cNvPr id="15" name="Shape 10"/>
          <p:cNvSpPr/>
          <p:nvPr/>
        </p:nvSpPr>
        <p:spPr>
          <a:xfrm>
            <a:off x="6400800" y="3246120"/>
            <a:ext cx="2468880" cy="868680"/>
          </a:xfrm>
          <a:prstGeom prst="roundRect">
            <a:avLst>
              <a:gd name="adj" fmla="val 10526"/>
            </a:avLst>
          </a:prstGeom>
          <a:solidFill>
            <a:srgbClr val="F1F5F9"/>
          </a:solidFill>
          <a:ln/>
        </p:spPr>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7960" y="3429000"/>
            <a:ext cx="274320" cy="274320"/>
          </a:xfrm>
          <a:prstGeom prst="rect">
            <a:avLst/>
          </a:prstGeom>
        </p:spPr>
      </p:pic>
      <p:sp>
        <p:nvSpPr>
          <p:cNvPr id="17" name="Text 11"/>
          <p:cNvSpPr/>
          <p:nvPr/>
        </p:nvSpPr>
        <p:spPr>
          <a:xfrm>
            <a:off x="6903720" y="3337560"/>
            <a:ext cx="1737360" cy="27432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Contact</a:t>
            </a:r>
            <a:endParaRPr lang="en-US" sz="1000" dirty="0"/>
          </a:p>
        </p:txBody>
      </p:sp>
      <p:sp>
        <p:nvSpPr>
          <p:cNvPr id="18" name="Text 12"/>
          <p:cNvSpPr/>
          <p:nvPr/>
        </p:nvSpPr>
        <p:spPr>
          <a:xfrm>
            <a:off x="6903720" y="3611880"/>
            <a:ext cx="1737360" cy="411480"/>
          </a:xfrm>
          <a:prstGeom prst="rect">
            <a:avLst/>
          </a:prstGeom>
          <a:noFill/>
          <a:ln/>
        </p:spPr>
        <p:txBody>
          <a:bodyPr wrap="square" lIns="0" tIns="0" rIns="0" bIns="0" rtlCol="0" anchor="ctr"/>
          <a:lstStyle/>
          <a:p>
            <a:pPr indent="0" marL="0">
              <a:lnSpc>
                <a:spcPts val="1200"/>
              </a:lnSpc>
              <a:buNone/>
            </a:pPr>
            <a:r>
              <a:rPr lang="en-US" sz="800" dirty="0">
                <a:solidFill>
                  <a:srgbClr val="64748B"/>
                </a:solidFill>
                <a:latin typeface="Calibri" pitchFamily="34" charset="0"/>
                <a:ea typeface="Calibri" pitchFamily="34" charset="-122"/>
                <a:cs typeface="Calibri" pitchFamily="34" charset="-120"/>
              </a:rPr>
              <a:t>abisheksns78128</a:t>
            </a:r>
            <a:endParaRPr lang="en-US" sz="800" dirty="0"/>
          </a:p>
          <a:p>
            <a:pPr indent="0" marL="0">
              <a:lnSpc>
                <a:spcPts val="1200"/>
              </a:lnSpc>
              <a:buNone/>
            </a:pPr>
            <a:r>
              <a:rPr lang="en-US" sz="800" dirty="0">
                <a:solidFill>
                  <a:srgbClr val="64748B"/>
                </a:solidFill>
                <a:latin typeface="Calibri" pitchFamily="34" charset="0"/>
                <a:ea typeface="Calibri" pitchFamily="34" charset="-122"/>
                <a:cs typeface="Calibri" pitchFamily="34" charset="-120"/>
              </a:rPr>
              <a:t>@gmail.com</a:t>
            </a:r>
            <a:endParaRPr lang="en-US" sz="800" dirty="0"/>
          </a:p>
        </p:txBody>
      </p:sp>
      <p:sp>
        <p:nvSpPr>
          <p:cNvPr id="19" name="Text 13"/>
          <p:cNvSpPr/>
          <p:nvPr/>
        </p:nvSpPr>
        <p:spPr>
          <a:xfrm>
            <a:off x="914400" y="4389120"/>
            <a:ext cx="7315200" cy="228600"/>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Built at VIT Chennai 24-Hour Hackathon  |  TechnoVIT 2026</a:t>
            </a:r>
            <a:endParaRPr lang="en-US" sz="900" dirty="0"/>
          </a:p>
        </p:txBody>
      </p:sp>
      <p:sp>
        <p:nvSpPr>
          <p:cNvPr id="20" name="Shape 14"/>
          <p:cNvSpPr/>
          <p:nvPr/>
        </p:nvSpPr>
        <p:spPr>
          <a:xfrm>
            <a:off x="0" y="4892040"/>
            <a:ext cx="9144000" cy="9144"/>
          </a:xfrm>
          <a:prstGeom prst="rect">
            <a:avLst/>
          </a:prstGeom>
          <a:solidFill>
            <a:srgbClr val="E2E8F0"/>
          </a:solidFill>
          <a:ln/>
        </p:spPr>
      </p:sp>
      <p:sp>
        <p:nvSpPr>
          <p:cNvPr id="21" name="Text 15"/>
          <p:cNvSpPr/>
          <p:nvPr/>
        </p:nvSpPr>
        <p:spPr>
          <a:xfrm>
            <a:off x="457200" y="4846320"/>
            <a:ext cx="18288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GigShield</a:t>
            </a:r>
            <a:endParaRPr lang="en-US" sz="800" dirty="0"/>
          </a:p>
        </p:txBody>
      </p:sp>
      <p:sp>
        <p:nvSpPr>
          <p:cNvPr id="22" name="Text 16"/>
          <p:cNvSpPr/>
          <p:nvPr/>
        </p:nvSpPr>
        <p:spPr>
          <a:xfrm>
            <a:off x="7772400" y="4846320"/>
            <a:ext cx="91440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
  <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4FC6B96-9C5E-414A-A658-5F939A056E27}">
  <we:reference id="WA200010606" version="1.0.10036.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GigShield - Financial Resilience for Gig Workers</dc:title>
  <dc:subject>PptxGenJS Presentation</dc:subject>
  <dc:creator>GigShield Team</dc:creator>
  <cp:lastModifiedBy>GigShield Team</cp:lastModifiedBy>
  <cp:revision>1</cp:revision>
  <dcterms:created xsi:type="dcterms:W3CDTF">2026-09-03T13:14:08Z</dcterms:created>
  <dcterms:modified xsi:type="dcterms:W3CDTF">2026-09-03T13:14:08Z</dcterms:modified>
</cp:coreProperties>
</file>